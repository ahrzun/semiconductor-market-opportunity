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777240"/>
          </a:xfrm>
          <a:prstGeom prst="rect">
            <a:avLst/>
          </a:prstGeom>
          <a:noFill/>
        </p:spPr>
        <p:txBody>
          <a:bodyPr wrap="square">
            <a:spAutoFit/>
          </a:bodyPr>
          <a:lstStyle/>
          <a:p>
            <a:pPr algn="l">
              <a:spcAft>
                <a:spcPts val="600"/>
              </a:spcAft>
            </a:pPr>
            <a:r>
              <a:rPr sz="2700" b="1" i="0">
                <a:solidFill>
                  <a:srgbClr val="1F3864"/>
                </a:solidFill>
                <a:latin typeface="Calibri"/>
              </a:rPr>
              <a:t>Prioritize automotive, analog and HPC; hold power electronics; exit memory</a:t>
            </a:r>
          </a:p>
        </p:txBody>
      </p:sp>
      <p:sp>
        <p:nvSpPr>
          <p:cNvPr id="3" name="Rectangle 2"/>
          <p:cNvSpPr/>
          <p:nvPr/>
        </p:nvSpPr>
        <p:spPr>
          <a:xfrm>
            <a:off x="502920" y="1225296"/>
            <a:ext cx="11185855" cy="14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11185855" cy="274320"/>
          </a:xfrm>
          <a:prstGeom prst="rect">
            <a:avLst/>
          </a:prstGeom>
          <a:noFill/>
        </p:spPr>
        <p:txBody>
          <a:bodyPr wrap="square">
            <a:spAutoFit/>
          </a:bodyPr>
          <a:lstStyle/>
          <a:p>
            <a:pPr algn="l">
              <a:spcAft>
                <a:spcPts val="600"/>
              </a:spcAft>
            </a:pPr>
            <a:r>
              <a:rPr sz="1100" b="0" i="1">
                <a:solidFill>
                  <a:srgbClr val="595959"/>
                </a:solidFill>
                <a:latin typeface="Calibri"/>
              </a:rPr>
              <a:t>Recommendation | Semiconductor design-services capacity, 2026-2030</a:t>
            </a:r>
          </a:p>
        </p:txBody>
      </p:sp>
      <p:sp>
        <p:nvSpPr>
          <p:cNvPr id="5" name="TextBox 4"/>
          <p:cNvSpPr txBox="1"/>
          <p:nvPr/>
        </p:nvSpPr>
        <p:spPr>
          <a:xfrm>
            <a:off x="502920" y="6428232"/>
            <a:ext cx="9601200" cy="274320"/>
          </a:xfrm>
          <a:prstGeom prst="rect">
            <a:avLst/>
          </a:prstGeom>
          <a:noFill/>
        </p:spPr>
        <p:txBody>
          <a:bodyPr wrap="square">
            <a:spAutoFit/>
          </a:bodyPr>
          <a:lstStyle/>
          <a:p>
            <a:pPr algn="l">
              <a:spcAft>
                <a:spcPts val="600"/>
              </a:spcAft>
            </a:pPr>
            <a:r>
              <a:rPr sz="900" b="0" i="0">
                <a:solidFill>
                  <a:srgbClr val="595959"/>
                </a:solidFill>
                <a:latin typeface="Calibri"/>
              </a:rPr>
              <a:t>Semiconductor design-services opportunity  |  Illustrative dataset, not market research</a:t>
            </a:r>
          </a:p>
        </p:txBody>
      </p:sp>
      <p:sp>
        <p:nvSpPr>
          <p:cNvPr id="6" name="TextBox 5"/>
          <p:cNvSpPr txBox="1"/>
          <p:nvPr/>
        </p:nvSpPr>
        <p:spPr>
          <a:xfrm>
            <a:off x="11094415" y="6428232"/>
            <a:ext cx="594360" cy="274320"/>
          </a:xfrm>
          <a:prstGeom prst="rect">
            <a:avLst/>
          </a:prstGeom>
          <a:noFill/>
        </p:spPr>
        <p:txBody>
          <a:bodyPr wrap="square">
            <a:spAutoFit/>
          </a:bodyPr>
          <a:lstStyle/>
          <a:p>
            <a:pPr algn="r">
              <a:spcAft>
                <a:spcPts val="600"/>
              </a:spcAft>
            </a:pPr>
            <a:r>
              <a:rPr sz="900" b="0" i="0">
                <a:solidFill>
                  <a:srgbClr val="595959"/>
                </a:solidFill>
                <a:latin typeface="Calibri"/>
              </a:rPr>
              <a:t>1</a:t>
            </a:r>
          </a:p>
        </p:txBody>
      </p:sp>
      <p:graphicFrame>
        <p:nvGraphicFramePr>
          <p:cNvPr id="7" name="Table 6"/>
          <p:cNvGraphicFramePr>
            <a:graphicFrameLocks noGrp="1"/>
          </p:cNvGraphicFramePr>
          <p:nvPr/>
        </p:nvGraphicFramePr>
        <p:xfrm>
          <a:off x="502920" y="1417320"/>
          <a:ext cx="11185853" cy="1170432"/>
        </p:xfrm>
        <a:graphic>
          <a:graphicData uri="http://schemas.openxmlformats.org/drawingml/2006/table">
            <a:tbl>
              <a:tblPr firstRow="1" bandRow="1">
                <a:tableStyleId>{5C22544A-7EE6-4342-B048-85BDC9FD1C3A}</a:tableStyleId>
              </a:tblPr>
              <a:tblGrid>
                <a:gridCol w="1283622"/>
                <a:gridCol w="5684614"/>
                <a:gridCol w="2200496"/>
                <a:gridCol w="2017121"/>
              </a:tblGrid>
              <a:tr h="292608">
                <a:tc>
                  <a:txBody>
                    <a:bodyPr/>
                    <a:lstStyle/>
                    <a:p>
                      <a:pPr algn="l"/>
                      <a:r>
                        <a:rPr sz="1200" b="1">
                          <a:solidFill>
                            <a:srgbClr val="FFFFFF"/>
                          </a:solidFill>
                          <a:latin typeface="Calibri"/>
                        </a:rPr>
                        <a:t>Call</a:t>
                      </a:r>
                    </a:p>
                  </a:txBody>
                  <a:tcPr>
                    <a:solidFill>
                      <a:srgbClr val="1F3864"/>
                    </a:solidFill>
                  </a:tcPr>
                </a:tc>
                <a:tc>
                  <a:txBody>
                    <a:bodyPr/>
                    <a:lstStyle/>
                    <a:p>
                      <a:pPr algn="ctr"/>
                      <a:r>
                        <a:rPr sz="1200" b="1">
                          <a:solidFill>
                            <a:srgbClr val="FFFFFF"/>
                          </a:solidFill>
                          <a:latin typeface="Calibri"/>
                        </a:rPr>
                        <a:t>Segments</a:t>
                      </a:r>
                    </a:p>
                  </a:txBody>
                  <a:tcPr>
                    <a:solidFill>
                      <a:srgbClr val="1F3864"/>
                    </a:solidFill>
                  </a:tcPr>
                </a:tc>
                <a:tc>
                  <a:txBody>
                    <a:bodyPr/>
                    <a:lstStyle/>
                    <a:p>
                      <a:pPr algn="ctr"/>
                      <a:r>
                        <a:rPr sz="1200" b="1">
                          <a:solidFill>
                            <a:srgbClr val="FFFFFF"/>
                          </a:solidFill>
                          <a:latin typeface="Calibri"/>
                        </a:rPr>
                        <a:t>2030 serviceable market, USD bn</a:t>
                      </a:r>
                    </a:p>
                  </a:txBody>
                  <a:tcPr>
                    <a:solidFill>
                      <a:srgbClr val="1F3864"/>
                    </a:solidFill>
                  </a:tcPr>
                </a:tc>
                <a:tc>
                  <a:txBody>
                    <a:bodyPr/>
                    <a:lstStyle/>
                    <a:p>
                      <a:pPr algn="ctr"/>
                      <a:r>
                        <a:rPr sz="1200" b="1">
                          <a:solidFill>
                            <a:srgbClr val="FFFFFF"/>
                          </a:solidFill>
                          <a:latin typeface="Calibri"/>
                        </a:rPr>
                        <a:t>Share of serviceable pool</a:t>
                      </a:r>
                    </a:p>
                  </a:txBody>
                  <a:tcPr>
                    <a:solidFill>
                      <a:srgbClr val="1F3864"/>
                    </a:solidFill>
                  </a:tcPr>
                </a:tc>
              </a:tr>
              <a:tr h="292608">
                <a:tc>
                  <a:txBody>
                    <a:bodyPr/>
                    <a:lstStyle/>
                    <a:p>
                      <a:pPr algn="l"/>
                      <a:r>
                        <a:rPr sz="1200" b="1">
                          <a:solidFill>
                            <a:srgbClr val="1B6B45"/>
                          </a:solidFill>
                          <a:latin typeface="Calibri"/>
                        </a:rPr>
                        <a:t>Prioritize</a:t>
                      </a:r>
                    </a:p>
                  </a:txBody>
                  <a:tcPr>
                    <a:solidFill>
                      <a:srgbClr val="FFFFFF"/>
                    </a:solidFill>
                  </a:tcPr>
                </a:tc>
                <a:tc>
                  <a:txBody>
                    <a:bodyPr/>
                    <a:lstStyle/>
                    <a:p>
                      <a:pPr algn="ctr"/>
                      <a:r>
                        <a:rPr sz="1200">
                          <a:solidFill>
                            <a:srgbClr val="595959"/>
                          </a:solidFill>
                          <a:latin typeface="Calibri"/>
                        </a:rPr>
                        <a:t>Automotive &amp; ADAS silicon, Analog &amp; mixed-signal, HPC / AI accelerator ASICs</a:t>
                      </a:r>
                    </a:p>
                  </a:txBody>
                  <a:tcPr>
                    <a:solidFill>
                      <a:srgbClr val="FFFFFF"/>
                    </a:solidFill>
                  </a:tcPr>
                </a:tc>
                <a:tc>
                  <a:txBody>
                    <a:bodyPr/>
                    <a:lstStyle/>
                    <a:p>
                      <a:pPr algn="ctr"/>
                      <a:r>
                        <a:rPr sz="1200">
                          <a:solidFill>
                            <a:srgbClr val="595959"/>
                          </a:solidFill>
                          <a:latin typeface="Calibri"/>
                        </a:rPr>
                        <a:t>127</a:t>
                      </a:r>
                    </a:p>
                  </a:txBody>
                  <a:tcPr>
                    <a:solidFill>
                      <a:srgbClr val="FFFFFF"/>
                    </a:solidFill>
                  </a:tcPr>
                </a:tc>
                <a:tc>
                  <a:txBody>
                    <a:bodyPr/>
                    <a:lstStyle/>
                    <a:p>
                      <a:pPr algn="ctr"/>
                      <a:r>
                        <a:rPr sz="1200">
                          <a:solidFill>
                            <a:srgbClr val="595959"/>
                          </a:solidFill>
                          <a:latin typeface="Calibri"/>
                        </a:rPr>
                        <a:t>72%</a:t>
                      </a:r>
                    </a:p>
                  </a:txBody>
                  <a:tcPr>
                    <a:solidFill>
                      <a:srgbClr val="FFFFFF"/>
                    </a:solidFill>
                  </a:tcPr>
                </a:tc>
              </a:tr>
              <a:tr h="292608">
                <a:tc>
                  <a:txBody>
                    <a:bodyPr/>
                    <a:lstStyle/>
                    <a:p>
                      <a:pPr algn="l"/>
                      <a:r>
                        <a:rPr sz="1200" b="1">
                          <a:solidFill>
                            <a:srgbClr val="B07A12"/>
                          </a:solidFill>
                          <a:latin typeface="Calibri"/>
                        </a:rPr>
                        <a:t>Selective</a:t>
                      </a:r>
                    </a:p>
                  </a:txBody>
                  <a:tcPr>
                    <a:solidFill>
                      <a:srgbClr val="F4F6F9"/>
                    </a:solidFill>
                  </a:tcPr>
                </a:tc>
                <a:tc>
                  <a:txBody>
                    <a:bodyPr/>
                    <a:lstStyle/>
                    <a:p>
                      <a:pPr algn="ctr"/>
                      <a:r>
                        <a:rPr sz="1200">
                          <a:solidFill>
                            <a:srgbClr val="595959"/>
                          </a:solidFill>
                          <a:latin typeface="Calibri"/>
                        </a:rPr>
                        <a:t>Silicon photonics / optical interconnect, Power electronics (SiC / GaN)</a:t>
                      </a:r>
                    </a:p>
                  </a:txBody>
                  <a:tcPr>
                    <a:solidFill>
                      <a:srgbClr val="F4F6F9"/>
                    </a:solidFill>
                  </a:tcPr>
                </a:tc>
                <a:tc>
                  <a:txBody>
                    <a:bodyPr/>
                    <a:lstStyle/>
                    <a:p>
                      <a:pPr algn="ctr"/>
                      <a:r>
                        <a:rPr sz="1200">
                          <a:solidFill>
                            <a:srgbClr val="595959"/>
                          </a:solidFill>
                          <a:latin typeface="Calibri"/>
                        </a:rPr>
                        <a:t>21</a:t>
                      </a:r>
                    </a:p>
                  </a:txBody>
                  <a:tcPr>
                    <a:solidFill>
                      <a:srgbClr val="F4F6F9"/>
                    </a:solidFill>
                  </a:tcPr>
                </a:tc>
                <a:tc>
                  <a:txBody>
                    <a:bodyPr/>
                    <a:lstStyle/>
                    <a:p>
                      <a:pPr algn="ctr"/>
                      <a:r>
                        <a:rPr sz="1200">
                          <a:solidFill>
                            <a:srgbClr val="595959"/>
                          </a:solidFill>
                          <a:latin typeface="Calibri"/>
                        </a:rPr>
                        <a:t>12%</a:t>
                      </a:r>
                    </a:p>
                  </a:txBody>
                  <a:tcPr>
                    <a:solidFill>
                      <a:srgbClr val="F4F6F9"/>
                    </a:solidFill>
                  </a:tcPr>
                </a:tc>
              </a:tr>
              <a:tr h="292608">
                <a:tc>
                  <a:txBody>
                    <a:bodyPr/>
                    <a:lstStyle/>
                    <a:p>
                      <a:pPr algn="l"/>
                      <a:r>
                        <a:rPr sz="1200" b="1">
                          <a:solidFill>
                            <a:srgbClr val="9C3A3A"/>
                          </a:solidFill>
                          <a:latin typeface="Calibri"/>
                        </a:rPr>
                        <a:t>Deprioritize</a:t>
                      </a:r>
                    </a:p>
                  </a:txBody>
                  <a:tcPr>
                    <a:solidFill>
                      <a:srgbClr val="FFFFFF"/>
                    </a:solidFill>
                  </a:tcPr>
                </a:tc>
                <a:tc>
                  <a:txBody>
                    <a:bodyPr/>
                    <a:lstStyle/>
                    <a:p>
                      <a:pPr algn="ctr"/>
                      <a:r>
                        <a:rPr sz="1200">
                          <a:solidFill>
                            <a:srgbClr val="595959"/>
                          </a:solidFill>
                          <a:latin typeface="Calibri"/>
                        </a:rPr>
                        <a:t>MEMS &amp; sensors, RF &amp; 5G front-end, Memory (DRAM / NAND)</a:t>
                      </a:r>
                    </a:p>
                  </a:txBody>
                  <a:tcPr>
                    <a:solidFill>
                      <a:srgbClr val="FFFFFF"/>
                    </a:solidFill>
                  </a:tcPr>
                </a:tc>
                <a:tc>
                  <a:txBody>
                    <a:bodyPr/>
                    <a:lstStyle/>
                    <a:p>
                      <a:pPr algn="ctr"/>
                      <a:r>
                        <a:rPr sz="1200">
                          <a:solidFill>
                            <a:srgbClr val="595959"/>
                          </a:solidFill>
                          <a:latin typeface="Calibri"/>
                        </a:rPr>
                        <a:t>28</a:t>
                      </a:r>
                    </a:p>
                  </a:txBody>
                  <a:tcPr>
                    <a:solidFill>
                      <a:srgbClr val="FFFFFF"/>
                    </a:solidFill>
                  </a:tcPr>
                </a:tc>
                <a:tc>
                  <a:txBody>
                    <a:bodyPr/>
                    <a:lstStyle/>
                    <a:p>
                      <a:pPr algn="ctr"/>
                      <a:r>
                        <a:rPr sz="1200">
                          <a:solidFill>
                            <a:srgbClr val="595959"/>
                          </a:solidFill>
                          <a:latin typeface="Calibri"/>
                        </a:rPr>
                        <a:t>16%</a:t>
                      </a:r>
                    </a:p>
                  </a:txBody>
                  <a:tcPr>
                    <a:solidFill>
                      <a:srgbClr val="FFFFFF"/>
                    </a:solidFill>
                  </a:tcPr>
                </a:tc>
              </a:tr>
            </a:tbl>
          </a:graphicData>
        </a:graphic>
      </p:graphicFrame>
      <p:sp>
        <p:nvSpPr>
          <p:cNvPr id="8" name="TextBox 7"/>
          <p:cNvSpPr txBox="1"/>
          <p:nvPr/>
        </p:nvSpPr>
        <p:spPr>
          <a:xfrm>
            <a:off x="502920" y="3200400"/>
            <a:ext cx="11185855" cy="2743200"/>
          </a:xfrm>
          <a:prstGeom prst="rect">
            <a:avLst/>
          </a:prstGeom>
          <a:noFill/>
        </p:spPr>
        <p:txBody>
          <a:bodyPr wrap="square">
            <a:spAutoFit/>
          </a:bodyPr>
          <a:lstStyle/>
          <a:p>
            <a:pPr>
              <a:spcAft>
                <a:spcPts val="1000"/>
              </a:spcAft>
            </a:pPr>
            <a:r>
              <a:rPr sz="1300" b="1">
                <a:solidFill>
                  <a:srgbClr val="1F3864"/>
                </a:solidFill>
                <a:latin typeface="Calibri"/>
              </a:rPr>
              <a:t>The call.  </a:t>
            </a:r>
            <a:r>
              <a:rPr sz="1300">
                <a:solidFill>
                  <a:srgbClr val="595959"/>
                </a:solidFill>
                <a:latin typeface="Calibri"/>
              </a:rPr>
              <a:t>Concentrate design capacity on automotive &amp; ADAS, analog &amp; mixed-signal and HPC accelerator ASICs. Together they hold 72% of the serviceable market in 2030 and the three highest forward scores (68, 67 and 64 out of 100).</a:t>
            </a:r>
          </a:p>
          <a:p>
            <a:pPr>
              <a:spcAft>
                <a:spcPts val="1000"/>
              </a:spcAft>
            </a:pPr>
            <a:r>
              <a:rPr sz="1300" b="1">
                <a:solidFill>
                  <a:srgbClr val="1F3864"/>
                </a:solidFill>
                <a:latin typeface="Calibri"/>
              </a:rPr>
              <a:t>Enter selectively.  </a:t>
            </a:r>
            <a:r>
              <a:rPr sz="1300">
                <a:solidFill>
                  <a:srgbClr val="595959"/>
                </a:solidFill>
                <a:latin typeface="Calibri"/>
              </a:rPr>
              <a:t>Silicon photonics through partnership rather than hiring - it compounds at 22% but has the thinnest talent pool in the set. Hold power electronics; do not build against it.</a:t>
            </a:r>
          </a:p>
          <a:p>
            <a:pPr>
              <a:spcAft>
                <a:spcPts val="1000"/>
              </a:spcAft>
            </a:pPr>
            <a:r>
              <a:rPr sz="1300" b="1">
                <a:solidFill>
                  <a:srgbClr val="1F3864"/>
                </a:solidFill>
                <a:latin typeface="Calibri"/>
              </a:rPr>
              <a:t>Do not chase size.  </a:t>
            </a:r>
            <a:r>
              <a:rPr sz="1300">
                <a:solidFill>
                  <a:srgbClr val="595959"/>
                </a:solidFill>
                <a:latin typeface="Calibri"/>
              </a:rPr>
              <a:t>Memory is the second-largest market in 2030 at USD 271bn and the worst opportunity in the set, because only 4% of it is reachable by an outsourced design house. Scoring on serviceable market rather than TAM moves it from second place to fifth.</a:t>
            </a:r>
          </a:p>
          <a:p>
            <a:pPr>
              <a:spcAft>
                <a:spcPts val="1000"/>
              </a:spcAft>
            </a:pPr>
            <a:r>
              <a:rPr sz="1300" b="1">
                <a:solidFill>
                  <a:srgbClr val="1F3864"/>
                </a:solidFill>
                <a:latin typeface="Calibri"/>
              </a:rPr>
              <a:t>This ranking was stress-tested.  </a:t>
            </a:r>
            <a:r>
              <a:rPr sz="1300">
                <a:solidFill>
                  <a:srgbClr val="595959"/>
                </a:solidFill>
                <a:latin typeface="Calibri"/>
              </a:rPr>
              <a:t>Re-weighted three ways. Memory stays eighth and RF &amp; 5G seventh under every profile, and automotive never falls below third. The ordering inside the prioritize group is weight-sensitive and is argued on its merits, not on its score.</a:t>
            </a:r>
          </a:p>
        </p:txBody>
      </p:sp>
      <p:sp>
        <p:nvSpPr>
          <p:cNvPr id="9" name="Rectangle 8"/>
          <p:cNvSpPr/>
          <p:nvPr/>
        </p:nvSpPr>
        <p:spPr>
          <a:xfrm>
            <a:off x="502920" y="6025896"/>
            <a:ext cx="146304" cy="146304"/>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971032"/>
            <a:ext cx="1234440" cy="256032"/>
          </a:xfrm>
          <a:prstGeom prst="rect">
            <a:avLst/>
          </a:prstGeom>
          <a:noFill/>
        </p:spPr>
        <p:txBody>
          <a:bodyPr wrap="square">
            <a:spAutoFit/>
          </a:bodyPr>
          <a:lstStyle/>
          <a:p>
            <a:pPr algn="l">
              <a:spcAft>
                <a:spcPts val="600"/>
              </a:spcAft>
            </a:pPr>
            <a:r>
              <a:rPr sz="1100" b="1" i="0">
                <a:solidFill>
                  <a:srgbClr val="1B6B45"/>
                </a:solidFill>
                <a:latin typeface="Calibri"/>
              </a:rPr>
              <a:t>Prioritize</a:t>
            </a:r>
          </a:p>
        </p:txBody>
      </p:sp>
      <p:sp>
        <p:nvSpPr>
          <p:cNvPr id="11" name="Rectangle 10"/>
          <p:cNvSpPr/>
          <p:nvPr/>
        </p:nvSpPr>
        <p:spPr>
          <a:xfrm>
            <a:off x="1984248" y="6025896"/>
            <a:ext cx="146304" cy="146304"/>
          </a:xfrm>
          <a:prstGeom prst="rect">
            <a:avLst/>
          </a:prstGeom>
          <a:solidFill>
            <a:srgbClr val="B07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5416" y="5971032"/>
            <a:ext cx="1234440" cy="256032"/>
          </a:xfrm>
          <a:prstGeom prst="rect">
            <a:avLst/>
          </a:prstGeom>
          <a:noFill/>
        </p:spPr>
        <p:txBody>
          <a:bodyPr wrap="square">
            <a:spAutoFit/>
          </a:bodyPr>
          <a:lstStyle/>
          <a:p>
            <a:pPr algn="l">
              <a:spcAft>
                <a:spcPts val="600"/>
              </a:spcAft>
            </a:pPr>
            <a:r>
              <a:rPr sz="1100" b="1" i="0">
                <a:solidFill>
                  <a:srgbClr val="B07A12"/>
                </a:solidFill>
                <a:latin typeface="Calibri"/>
              </a:rPr>
              <a:t>Selective</a:t>
            </a:r>
          </a:p>
        </p:txBody>
      </p:sp>
      <p:sp>
        <p:nvSpPr>
          <p:cNvPr id="13" name="Rectangle 12"/>
          <p:cNvSpPr/>
          <p:nvPr/>
        </p:nvSpPr>
        <p:spPr>
          <a:xfrm>
            <a:off x="3465576" y="6025896"/>
            <a:ext cx="146304" cy="146304"/>
          </a:xfrm>
          <a:prstGeom prst="rect">
            <a:avLst/>
          </a:prstGeom>
          <a:solidFill>
            <a:srgbClr val="9C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6744" y="5971032"/>
            <a:ext cx="1234440" cy="256032"/>
          </a:xfrm>
          <a:prstGeom prst="rect">
            <a:avLst/>
          </a:prstGeom>
          <a:noFill/>
        </p:spPr>
        <p:txBody>
          <a:bodyPr wrap="square">
            <a:spAutoFit/>
          </a:bodyPr>
          <a:lstStyle/>
          <a:p>
            <a:pPr algn="l">
              <a:spcAft>
                <a:spcPts val="600"/>
              </a:spcAft>
            </a:pPr>
            <a:r>
              <a:rPr sz="1100" b="1" i="0">
                <a:solidFill>
                  <a:srgbClr val="9C3A3A"/>
                </a:solidFill>
                <a:latin typeface="Calibri"/>
              </a:rPr>
              <a:t>Deprioritize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777240"/>
          </a:xfrm>
          <a:prstGeom prst="rect">
            <a:avLst/>
          </a:prstGeom>
          <a:noFill/>
        </p:spPr>
        <p:txBody>
          <a:bodyPr wrap="square">
            <a:spAutoFit/>
          </a:bodyPr>
          <a:lstStyle/>
          <a:p>
            <a:pPr algn="l">
              <a:spcAft>
                <a:spcPts val="600"/>
              </a:spcAft>
            </a:pPr>
            <a:r>
              <a:rPr sz="2700" b="1" i="0">
                <a:solidFill>
                  <a:srgbClr val="1F3864"/>
                </a:solidFill>
                <a:latin typeface="Calibri"/>
              </a:rPr>
              <a:t>Eight segments, one filter: how much of each market can we actually sell into</a:t>
            </a:r>
          </a:p>
        </p:txBody>
      </p:sp>
      <p:sp>
        <p:nvSpPr>
          <p:cNvPr id="3" name="Rectangle 2"/>
          <p:cNvSpPr/>
          <p:nvPr/>
        </p:nvSpPr>
        <p:spPr>
          <a:xfrm>
            <a:off x="502920" y="1225296"/>
            <a:ext cx="11185855" cy="14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11185855" cy="274320"/>
          </a:xfrm>
          <a:prstGeom prst="rect">
            <a:avLst/>
          </a:prstGeom>
          <a:noFill/>
        </p:spPr>
        <p:txBody>
          <a:bodyPr wrap="square">
            <a:spAutoFit/>
          </a:bodyPr>
          <a:lstStyle/>
          <a:p>
            <a:pPr algn="l">
              <a:spcAft>
                <a:spcPts val="600"/>
              </a:spcAft>
            </a:pPr>
            <a:r>
              <a:rPr sz="1100" b="0" i="1">
                <a:solidFill>
                  <a:srgbClr val="595959"/>
                </a:solidFill>
                <a:latin typeface="Calibri"/>
              </a:rPr>
              <a:t>Market landscape | 2030 view</a:t>
            </a:r>
          </a:p>
        </p:txBody>
      </p:sp>
      <p:sp>
        <p:nvSpPr>
          <p:cNvPr id="5" name="TextBox 4"/>
          <p:cNvSpPr txBox="1"/>
          <p:nvPr/>
        </p:nvSpPr>
        <p:spPr>
          <a:xfrm>
            <a:off x="502920" y="6428232"/>
            <a:ext cx="9601200" cy="274320"/>
          </a:xfrm>
          <a:prstGeom prst="rect">
            <a:avLst/>
          </a:prstGeom>
          <a:noFill/>
        </p:spPr>
        <p:txBody>
          <a:bodyPr wrap="square">
            <a:spAutoFit/>
          </a:bodyPr>
          <a:lstStyle/>
          <a:p>
            <a:pPr algn="l">
              <a:spcAft>
                <a:spcPts val="600"/>
              </a:spcAft>
            </a:pPr>
            <a:r>
              <a:rPr sz="900" b="0" i="0">
                <a:solidFill>
                  <a:srgbClr val="595959"/>
                </a:solidFill>
                <a:latin typeface="Calibri"/>
              </a:rPr>
              <a:t>Semiconductor design-services opportunity  |  Illustrative dataset, not market research</a:t>
            </a:r>
          </a:p>
        </p:txBody>
      </p:sp>
      <p:sp>
        <p:nvSpPr>
          <p:cNvPr id="6" name="TextBox 5"/>
          <p:cNvSpPr txBox="1"/>
          <p:nvPr/>
        </p:nvSpPr>
        <p:spPr>
          <a:xfrm>
            <a:off x="11094415" y="6428232"/>
            <a:ext cx="594360" cy="274320"/>
          </a:xfrm>
          <a:prstGeom prst="rect">
            <a:avLst/>
          </a:prstGeom>
          <a:noFill/>
        </p:spPr>
        <p:txBody>
          <a:bodyPr wrap="square">
            <a:spAutoFit/>
          </a:bodyPr>
          <a:lstStyle/>
          <a:p>
            <a:pPr algn="r">
              <a:spcAft>
                <a:spcPts val="600"/>
              </a:spcAft>
            </a:pPr>
            <a:r>
              <a:rPr sz="900" b="0" i="0">
                <a:solidFill>
                  <a:srgbClr val="595959"/>
                </a:solidFill>
                <a:latin typeface="Calibri"/>
              </a:rPr>
              <a:t>2</a:t>
            </a:r>
          </a:p>
        </p:txBody>
      </p:sp>
      <p:graphicFrame>
        <p:nvGraphicFramePr>
          <p:cNvPr id="7" name="Table 6"/>
          <p:cNvGraphicFramePr>
            <a:graphicFrameLocks noGrp="1"/>
          </p:cNvGraphicFramePr>
          <p:nvPr/>
        </p:nvGraphicFramePr>
        <p:xfrm>
          <a:off x="502920" y="1417320"/>
          <a:ext cx="11185852" cy="2633472"/>
        </p:xfrm>
        <a:graphic>
          <a:graphicData uri="http://schemas.openxmlformats.org/drawingml/2006/table">
            <a:tbl>
              <a:tblPr firstRow="1" bandRow="1">
                <a:tableStyleId>{5C22544A-7EE6-4342-B048-85BDC9FD1C3A}</a:tableStyleId>
              </a:tblPr>
              <a:tblGrid>
                <a:gridCol w="3092024"/>
                <a:gridCol w="2728257"/>
                <a:gridCol w="1364128"/>
                <a:gridCol w="1364128"/>
                <a:gridCol w="1636954"/>
                <a:gridCol w="1000361"/>
              </a:tblGrid>
              <a:tr h="292608">
                <a:tc>
                  <a:txBody>
                    <a:bodyPr/>
                    <a:lstStyle/>
                    <a:p>
                      <a:pPr algn="l"/>
                      <a:r>
                        <a:rPr sz="1100" b="1">
                          <a:solidFill>
                            <a:srgbClr val="FFFFFF"/>
                          </a:solidFill>
                          <a:latin typeface="Calibri"/>
                        </a:rPr>
                        <a:t>Segment</a:t>
                      </a:r>
                    </a:p>
                  </a:txBody>
                  <a:tcPr>
                    <a:solidFill>
                      <a:srgbClr val="1F3864"/>
                    </a:solidFill>
                  </a:tcPr>
                </a:tc>
                <a:tc>
                  <a:txBody>
                    <a:bodyPr/>
                    <a:lstStyle/>
                    <a:p>
                      <a:pPr algn="ctr"/>
                      <a:r>
                        <a:rPr sz="1100" b="1">
                          <a:solidFill>
                            <a:srgbClr val="FFFFFF"/>
                          </a:solidFill>
                          <a:latin typeface="Calibri"/>
                        </a:rPr>
                        <a:t>Value-chain position</a:t>
                      </a:r>
                    </a:p>
                  </a:txBody>
                  <a:tcPr>
                    <a:solidFill>
                      <a:srgbClr val="1F3864"/>
                    </a:solidFill>
                  </a:tcPr>
                </a:tc>
                <a:tc>
                  <a:txBody>
                    <a:bodyPr/>
                    <a:lstStyle/>
                    <a:p>
                      <a:pPr algn="ctr"/>
                      <a:r>
                        <a:rPr sz="1100" b="1">
                          <a:solidFill>
                            <a:srgbClr val="FFFFFF"/>
                          </a:solidFill>
                          <a:latin typeface="Calibri"/>
                        </a:rPr>
                        <a:t>TAM USD bn</a:t>
                      </a:r>
                    </a:p>
                  </a:txBody>
                  <a:tcPr>
                    <a:solidFill>
                      <a:srgbClr val="1F3864"/>
                    </a:solidFill>
                  </a:tcPr>
                </a:tc>
                <a:tc>
                  <a:txBody>
                    <a:bodyPr/>
                    <a:lstStyle/>
                    <a:p>
                      <a:pPr algn="ctr"/>
                      <a:r>
                        <a:rPr sz="1100" b="1">
                          <a:solidFill>
                            <a:srgbClr val="FFFFFF"/>
                          </a:solidFill>
                          <a:latin typeface="Calibri"/>
                        </a:rPr>
                        <a:t>Addressable</a:t>
                      </a:r>
                    </a:p>
                  </a:txBody>
                  <a:tcPr>
                    <a:solidFill>
                      <a:srgbClr val="1F3864"/>
                    </a:solidFill>
                  </a:tcPr>
                </a:tc>
                <a:tc>
                  <a:txBody>
                    <a:bodyPr/>
                    <a:lstStyle/>
                    <a:p>
                      <a:pPr algn="ctr"/>
                      <a:r>
                        <a:rPr sz="1100" b="1">
                          <a:solidFill>
                            <a:srgbClr val="FFFFFF"/>
                          </a:solidFill>
                          <a:latin typeface="Calibri"/>
                        </a:rPr>
                        <a:t>Serviceable USD bn</a:t>
                      </a:r>
                    </a:p>
                  </a:txBody>
                  <a:tcPr>
                    <a:solidFill>
                      <a:srgbClr val="1F3864"/>
                    </a:solidFill>
                  </a:tcPr>
                </a:tc>
                <a:tc>
                  <a:txBody>
                    <a:bodyPr/>
                    <a:lstStyle/>
                    <a:p>
                      <a:pPr algn="ctr"/>
                      <a:r>
                        <a:rPr sz="1100" b="1">
                          <a:solidFill>
                            <a:srgbClr val="FFFFFF"/>
                          </a:solidFill>
                          <a:latin typeface="Calibri"/>
                        </a:rPr>
                        <a:t>CAGR</a:t>
                      </a:r>
                    </a:p>
                  </a:txBody>
                  <a:tcPr>
                    <a:solidFill>
                      <a:srgbClr val="1F3864"/>
                    </a:solidFill>
                  </a:tcPr>
                </a:tc>
              </a:tr>
              <a:tr h="292608">
                <a:tc>
                  <a:txBody>
                    <a:bodyPr/>
                    <a:lstStyle/>
                    <a:p>
                      <a:pPr algn="l"/>
                      <a:r>
                        <a:rPr sz="1100">
                          <a:solidFill>
                            <a:srgbClr val="595959"/>
                          </a:solidFill>
                          <a:latin typeface="Calibri"/>
                        </a:rPr>
                        <a:t>HPC / AI accelerator ASICs</a:t>
                      </a:r>
                    </a:p>
                  </a:txBody>
                  <a:tcPr>
                    <a:solidFill>
                      <a:srgbClr val="FFFFFF"/>
                    </a:solidFill>
                  </a:tcPr>
                </a:tc>
                <a:tc>
                  <a:txBody>
                    <a:bodyPr/>
                    <a:lstStyle/>
                    <a:p>
                      <a:pPr algn="ctr"/>
                      <a:r>
                        <a:rPr sz="1100">
                          <a:solidFill>
                            <a:srgbClr val="595959"/>
                          </a:solidFill>
                          <a:latin typeface="Calibri"/>
                        </a:rPr>
                        <a:t>Custom ASIC design</a:t>
                      </a:r>
                    </a:p>
                  </a:txBody>
                  <a:tcPr>
                    <a:solidFill>
                      <a:srgbClr val="FFFFFF"/>
                    </a:solidFill>
                  </a:tcPr>
                </a:tc>
                <a:tc>
                  <a:txBody>
                    <a:bodyPr/>
                    <a:lstStyle/>
                    <a:p>
                      <a:pPr algn="ctr"/>
                      <a:r>
                        <a:rPr sz="1100">
                          <a:solidFill>
                            <a:srgbClr val="595959"/>
                          </a:solidFill>
                          <a:latin typeface="Calibri"/>
                        </a:rPr>
                        <a:t>438</a:t>
                      </a:r>
                    </a:p>
                  </a:txBody>
                  <a:tcPr>
                    <a:solidFill>
                      <a:srgbClr val="FFFFFF"/>
                    </a:solidFill>
                  </a:tcPr>
                </a:tc>
                <a:tc>
                  <a:txBody>
                    <a:bodyPr/>
                    <a:lstStyle/>
                    <a:p>
                      <a:pPr algn="ctr"/>
                      <a:r>
                        <a:rPr sz="1100">
                          <a:solidFill>
                            <a:srgbClr val="595959"/>
                          </a:solidFill>
                          <a:latin typeface="Calibri"/>
                        </a:rPr>
                        <a:t>14%</a:t>
                      </a:r>
                    </a:p>
                  </a:txBody>
                  <a:tcPr>
                    <a:solidFill>
                      <a:srgbClr val="FFFFFF"/>
                    </a:solidFill>
                  </a:tcPr>
                </a:tc>
                <a:tc>
                  <a:txBody>
                    <a:bodyPr/>
                    <a:lstStyle/>
                    <a:p>
                      <a:pPr algn="ctr"/>
                      <a:r>
                        <a:rPr sz="1100">
                          <a:solidFill>
                            <a:srgbClr val="595959"/>
                          </a:solidFill>
                          <a:latin typeface="Calibri"/>
                        </a:rPr>
                        <a:t>59.1</a:t>
                      </a:r>
                    </a:p>
                  </a:txBody>
                  <a:tcPr>
                    <a:solidFill>
                      <a:srgbClr val="FFFFFF"/>
                    </a:solidFill>
                  </a:tcPr>
                </a:tc>
                <a:tc>
                  <a:txBody>
                    <a:bodyPr/>
                    <a:lstStyle/>
                    <a:p>
                      <a:pPr algn="ctr"/>
                      <a:r>
                        <a:rPr sz="1100">
                          <a:solidFill>
                            <a:srgbClr val="595959"/>
                          </a:solidFill>
                          <a:latin typeface="Calibri"/>
                        </a:rPr>
                        <a:t>16.0%</a:t>
                      </a:r>
                    </a:p>
                  </a:txBody>
                  <a:tcPr>
                    <a:solidFill>
                      <a:srgbClr val="FFFFFF"/>
                    </a:solidFill>
                  </a:tcPr>
                </a:tc>
              </a:tr>
              <a:tr h="292608">
                <a:tc>
                  <a:txBody>
                    <a:bodyPr/>
                    <a:lstStyle/>
                    <a:p>
                      <a:pPr algn="l"/>
                      <a:r>
                        <a:rPr sz="1100">
                          <a:solidFill>
                            <a:srgbClr val="595959"/>
                          </a:solidFill>
                          <a:latin typeface="Calibri"/>
                        </a:rPr>
                        <a:t>Automotive &amp; ADAS silicon</a:t>
                      </a:r>
                    </a:p>
                  </a:txBody>
                  <a:tcPr>
                    <a:solidFill>
                      <a:srgbClr val="F4F6F9"/>
                    </a:solidFill>
                  </a:tcPr>
                </a:tc>
                <a:tc>
                  <a:txBody>
                    <a:bodyPr/>
                    <a:lstStyle/>
                    <a:p>
                      <a:pPr algn="ctr"/>
                      <a:r>
                        <a:rPr sz="1100">
                          <a:solidFill>
                            <a:srgbClr val="595959"/>
                          </a:solidFill>
                          <a:latin typeface="Calibri"/>
                        </a:rPr>
                        <a:t>SoC / ASIC design</a:t>
                      </a:r>
                    </a:p>
                  </a:txBody>
                  <a:tcPr>
                    <a:solidFill>
                      <a:srgbClr val="F4F6F9"/>
                    </a:solidFill>
                  </a:tcPr>
                </a:tc>
                <a:tc>
                  <a:txBody>
                    <a:bodyPr/>
                    <a:lstStyle/>
                    <a:p>
                      <a:pPr algn="ctr"/>
                      <a:r>
                        <a:rPr sz="1100">
                          <a:solidFill>
                            <a:srgbClr val="595959"/>
                          </a:solidFill>
                          <a:latin typeface="Calibri"/>
                        </a:rPr>
                        <a:t>140</a:t>
                      </a:r>
                    </a:p>
                  </a:txBody>
                  <a:tcPr>
                    <a:solidFill>
                      <a:srgbClr val="F4F6F9"/>
                    </a:solidFill>
                  </a:tcPr>
                </a:tc>
                <a:tc>
                  <a:txBody>
                    <a:bodyPr/>
                    <a:lstStyle/>
                    <a:p>
                      <a:pPr algn="ctr"/>
                      <a:r>
                        <a:rPr sz="1100">
                          <a:solidFill>
                            <a:srgbClr val="595959"/>
                          </a:solidFill>
                          <a:latin typeface="Calibri"/>
                        </a:rPr>
                        <a:t>24%</a:t>
                      </a:r>
                    </a:p>
                  </a:txBody>
                  <a:tcPr>
                    <a:solidFill>
                      <a:srgbClr val="F4F6F9"/>
                    </a:solidFill>
                  </a:tcPr>
                </a:tc>
                <a:tc>
                  <a:txBody>
                    <a:bodyPr/>
                    <a:lstStyle/>
                    <a:p>
                      <a:pPr algn="ctr"/>
                      <a:r>
                        <a:rPr sz="1100">
                          <a:solidFill>
                            <a:srgbClr val="595959"/>
                          </a:solidFill>
                          <a:latin typeface="Calibri"/>
                        </a:rPr>
                        <a:t>34.4</a:t>
                      </a:r>
                    </a:p>
                  </a:txBody>
                  <a:tcPr>
                    <a:solidFill>
                      <a:srgbClr val="F4F6F9"/>
                    </a:solidFill>
                  </a:tcPr>
                </a:tc>
                <a:tc>
                  <a:txBody>
                    <a:bodyPr/>
                    <a:lstStyle/>
                    <a:p>
                      <a:pPr algn="ctr"/>
                      <a:r>
                        <a:rPr sz="1100">
                          <a:solidFill>
                            <a:srgbClr val="595959"/>
                          </a:solidFill>
                          <a:latin typeface="Calibri"/>
                        </a:rPr>
                        <a:t>8.2%</a:t>
                      </a:r>
                    </a:p>
                  </a:txBody>
                  <a:tcPr>
                    <a:solidFill>
                      <a:srgbClr val="F4F6F9"/>
                    </a:solidFill>
                  </a:tcPr>
                </a:tc>
              </a:tr>
              <a:tr h="292608">
                <a:tc>
                  <a:txBody>
                    <a:bodyPr/>
                    <a:lstStyle/>
                    <a:p>
                      <a:pPr algn="l"/>
                      <a:r>
                        <a:rPr sz="1100">
                          <a:solidFill>
                            <a:srgbClr val="595959"/>
                          </a:solidFill>
                          <a:latin typeface="Calibri"/>
                        </a:rPr>
                        <a:t>Analog &amp; mixed-signal</a:t>
                      </a:r>
                    </a:p>
                  </a:txBody>
                  <a:tcPr>
                    <a:solidFill>
                      <a:srgbClr val="FFFFFF"/>
                    </a:solidFill>
                  </a:tcPr>
                </a:tc>
                <a:tc>
                  <a:txBody>
                    <a:bodyPr/>
                    <a:lstStyle/>
                    <a:p>
                      <a:pPr algn="ctr"/>
                      <a:r>
                        <a:rPr sz="1100">
                          <a:solidFill>
                            <a:srgbClr val="595959"/>
                          </a:solidFill>
                          <a:latin typeface="Calibri"/>
                        </a:rPr>
                        <a:t>Analog / mixed-signal design</a:t>
                      </a:r>
                    </a:p>
                  </a:txBody>
                  <a:tcPr>
                    <a:solidFill>
                      <a:srgbClr val="FFFFFF"/>
                    </a:solidFill>
                  </a:tcPr>
                </a:tc>
                <a:tc>
                  <a:txBody>
                    <a:bodyPr/>
                    <a:lstStyle/>
                    <a:p>
                      <a:pPr algn="ctr"/>
                      <a:r>
                        <a:rPr sz="1100">
                          <a:solidFill>
                            <a:srgbClr val="595959"/>
                          </a:solidFill>
                          <a:latin typeface="Calibri"/>
                        </a:rPr>
                        <a:t>132</a:t>
                      </a:r>
                    </a:p>
                  </a:txBody>
                  <a:tcPr>
                    <a:solidFill>
                      <a:srgbClr val="FFFFFF"/>
                    </a:solidFill>
                  </a:tcPr>
                </a:tc>
                <a:tc>
                  <a:txBody>
                    <a:bodyPr/>
                    <a:lstStyle/>
                    <a:p>
                      <a:pPr algn="ctr"/>
                      <a:r>
                        <a:rPr sz="1100">
                          <a:solidFill>
                            <a:srgbClr val="595959"/>
                          </a:solidFill>
                          <a:latin typeface="Calibri"/>
                        </a:rPr>
                        <a:t>26%</a:t>
                      </a:r>
                    </a:p>
                  </a:txBody>
                  <a:tcPr>
                    <a:solidFill>
                      <a:srgbClr val="FFFFFF"/>
                    </a:solidFill>
                  </a:tcPr>
                </a:tc>
                <a:tc>
                  <a:txBody>
                    <a:bodyPr/>
                    <a:lstStyle/>
                    <a:p>
                      <a:pPr algn="ctr"/>
                      <a:r>
                        <a:rPr sz="1100">
                          <a:solidFill>
                            <a:srgbClr val="595959"/>
                          </a:solidFill>
                          <a:latin typeface="Calibri"/>
                        </a:rPr>
                        <a:t>33.7</a:t>
                      </a:r>
                    </a:p>
                  </a:txBody>
                  <a:tcPr>
                    <a:solidFill>
                      <a:srgbClr val="FFFFFF"/>
                    </a:solidFill>
                  </a:tcPr>
                </a:tc>
                <a:tc>
                  <a:txBody>
                    <a:bodyPr/>
                    <a:lstStyle/>
                    <a:p>
                      <a:pPr algn="ctr"/>
                      <a:r>
                        <a:rPr sz="1100">
                          <a:solidFill>
                            <a:srgbClr val="595959"/>
                          </a:solidFill>
                          <a:latin typeface="Calibri"/>
                        </a:rPr>
                        <a:t>5.8%</a:t>
                      </a:r>
                    </a:p>
                  </a:txBody>
                  <a:tcPr>
                    <a:solidFill>
                      <a:srgbClr val="FFFFFF"/>
                    </a:solidFill>
                  </a:tcPr>
                </a:tc>
              </a:tr>
              <a:tr h="292608">
                <a:tc>
                  <a:txBody>
                    <a:bodyPr/>
                    <a:lstStyle/>
                    <a:p>
                      <a:pPr algn="l"/>
                      <a:r>
                        <a:rPr sz="1100">
                          <a:solidFill>
                            <a:srgbClr val="595959"/>
                          </a:solidFill>
                          <a:latin typeface="Calibri"/>
                        </a:rPr>
                        <a:t>Power electronics (SiC / GaN)</a:t>
                      </a:r>
                    </a:p>
                  </a:txBody>
                  <a:tcPr>
                    <a:solidFill>
                      <a:srgbClr val="F4F6F9"/>
                    </a:solidFill>
                  </a:tcPr>
                </a:tc>
                <a:tc>
                  <a:txBody>
                    <a:bodyPr/>
                    <a:lstStyle/>
                    <a:p>
                      <a:pPr algn="ctr"/>
                      <a:r>
                        <a:rPr sz="1100">
                          <a:solidFill>
                            <a:srgbClr val="595959"/>
                          </a:solidFill>
                          <a:latin typeface="Calibri"/>
                        </a:rPr>
                        <a:t>Device &amp; module design</a:t>
                      </a:r>
                    </a:p>
                  </a:txBody>
                  <a:tcPr>
                    <a:solidFill>
                      <a:srgbClr val="F4F6F9"/>
                    </a:solidFill>
                  </a:tcPr>
                </a:tc>
                <a:tc>
                  <a:txBody>
                    <a:bodyPr/>
                    <a:lstStyle/>
                    <a:p>
                      <a:pPr algn="ctr"/>
                      <a:r>
                        <a:rPr sz="1100">
                          <a:solidFill>
                            <a:srgbClr val="595959"/>
                          </a:solidFill>
                          <a:latin typeface="Calibri"/>
                        </a:rPr>
                        <a:t>69</a:t>
                      </a:r>
                    </a:p>
                  </a:txBody>
                  <a:tcPr>
                    <a:solidFill>
                      <a:srgbClr val="F4F6F9"/>
                    </a:solidFill>
                  </a:tcPr>
                </a:tc>
                <a:tc>
                  <a:txBody>
                    <a:bodyPr/>
                    <a:lstStyle/>
                    <a:p>
                      <a:pPr algn="ctr"/>
                      <a:r>
                        <a:rPr sz="1100">
                          <a:solidFill>
                            <a:srgbClr val="595959"/>
                          </a:solidFill>
                          <a:latin typeface="Calibri"/>
                        </a:rPr>
                        <a:t>19%</a:t>
                      </a:r>
                    </a:p>
                  </a:txBody>
                  <a:tcPr>
                    <a:solidFill>
                      <a:srgbClr val="F4F6F9"/>
                    </a:solidFill>
                  </a:tcPr>
                </a:tc>
                <a:tc>
                  <a:txBody>
                    <a:bodyPr/>
                    <a:lstStyle/>
                    <a:p>
                      <a:pPr algn="ctr"/>
                      <a:r>
                        <a:rPr sz="1100">
                          <a:solidFill>
                            <a:srgbClr val="595959"/>
                          </a:solidFill>
                          <a:latin typeface="Calibri"/>
                        </a:rPr>
                        <a:t>13.2</a:t>
                      </a:r>
                    </a:p>
                  </a:txBody>
                  <a:tcPr>
                    <a:solidFill>
                      <a:srgbClr val="F4F6F9"/>
                    </a:solidFill>
                  </a:tcPr>
                </a:tc>
                <a:tc>
                  <a:txBody>
                    <a:bodyPr/>
                    <a:lstStyle/>
                    <a:p>
                      <a:pPr algn="ctr"/>
                      <a:r>
                        <a:rPr sz="1100">
                          <a:solidFill>
                            <a:srgbClr val="595959"/>
                          </a:solidFill>
                          <a:latin typeface="Calibri"/>
                        </a:rPr>
                        <a:t>11.0%</a:t>
                      </a:r>
                    </a:p>
                  </a:txBody>
                  <a:tcPr>
                    <a:solidFill>
                      <a:srgbClr val="F4F6F9"/>
                    </a:solidFill>
                  </a:tcPr>
                </a:tc>
              </a:tr>
              <a:tr h="292608">
                <a:tc>
                  <a:txBody>
                    <a:bodyPr/>
                    <a:lstStyle/>
                    <a:p>
                      <a:pPr algn="l"/>
                      <a:r>
                        <a:rPr sz="1100">
                          <a:solidFill>
                            <a:srgbClr val="595959"/>
                          </a:solidFill>
                          <a:latin typeface="Calibri"/>
                        </a:rPr>
                        <a:t>Memory (DRAM / NAND)</a:t>
                      </a:r>
                    </a:p>
                  </a:txBody>
                  <a:tcPr>
                    <a:solidFill>
                      <a:srgbClr val="FFFFFF"/>
                    </a:solidFill>
                  </a:tcPr>
                </a:tc>
                <a:tc>
                  <a:txBody>
                    <a:bodyPr/>
                    <a:lstStyle/>
                    <a:p>
                      <a:pPr algn="ctr"/>
                      <a:r>
                        <a:rPr sz="1100">
                          <a:solidFill>
                            <a:srgbClr val="595959"/>
                          </a:solidFill>
                          <a:latin typeface="Calibri"/>
                        </a:rPr>
                        <a:t>Captive IDM design</a:t>
                      </a:r>
                    </a:p>
                  </a:txBody>
                  <a:tcPr>
                    <a:solidFill>
                      <a:srgbClr val="FFFFFF"/>
                    </a:solidFill>
                  </a:tcPr>
                </a:tc>
                <a:tc>
                  <a:txBody>
                    <a:bodyPr/>
                    <a:lstStyle/>
                    <a:p>
                      <a:pPr algn="ctr"/>
                      <a:r>
                        <a:rPr sz="1100">
                          <a:solidFill>
                            <a:srgbClr val="595959"/>
                          </a:solidFill>
                          <a:latin typeface="Calibri"/>
                        </a:rPr>
                        <a:t>271</a:t>
                      </a:r>
                    </a:p>
                  </a:txBody>
                  <a:tcPr>
                    <a:solidFill>
                      <a:srgbClr val="FFFFFF"/>
                    </a:solidFill>
                  </a:tcPr>
                </a:tc>
                <a:tc>
                  <a:txBody>
                    <a:bodyPr/>
                    <a:lstStyle/>
                    <a:p>
                      <a:pPr algn="ctr"/>
                      <a:r>
                        <a:rPr sz="1100">
                          <a:solidFill>
                            <a:srgbClr val="595959"/>
                          </a:solidFill>
                          <a:latin typeface="Calibri"/>
                        </a:rPr>
                        <a:t>4%</a:t>
                      </a:r>
                    </a:p>
                  </a:txBody>
                  <a:tcPr>
                    <a:solidFill>
                      <a:srgbClr val="FFFFFF"/>
                    </a:solidFill>
                  </a:tcPr>
                </a:tc>
                <a:tc>
                  <a:txBody>
                    <a:bodyPr/>
                    <a:lstStyle/>
                    <a:p>
                      <a:pPr algn="ctr"/>
                      <a:r>
                        <a:rPr sz="1100">
                          <a:solidFill>
                            <a:srgbClr val="595959"/>
                          </a:solidFill>
                          <a:latin typeface="Calibri"/>
                        </a:rPr>
                        <a:t>12.2</a:t>
                      </a:r>
                    </a:p>
                  </a:txBody>
                  <a:tcPr>
                    <a:solidFill>
                      <a:srgbClr val="FFFFFF"/>
                    </a:solidFill>
                  </a:tcPr>
                </a:tc>
                <a:tc>
                  <a:txBody>
                    <a:bodyPr/>
                    <a:lstStyle/>
                    <a:p>
                      <a:pPr algn="ctr"/>
                      <a:r>
                        <a:rPr sz="1100">
                          <a:solidFill>
                            <a:srgbClr val="595959"/>
                          </a:solidFill>
                          <a:latin typeface="Calibri"/>
                        </a:rPr>
                        <a:t>7.0%</a:t>
                      </a:r>
                    </a:p>
                  </a:txBody>
                  <a:tcPr>
                    <a:solidFill>
                      <a:srgbClr val="FFFFFF"/>
                    </a:solidFill>
                  </a:tcPr>
                </a:tc>
              </a:tr>
              <a:tr h="292608">
                <a:tc>
                  <a:txBody>
                    <a:bodyPr/>
                    <a:lstStyle/>
                    <a:p>
                      <a:pPr algn="l"/>
                      <a:r>
                        <a:rPr sz="1100">
                          <a:solidFill>
                            <a:srgbClr val="595959"/>
                          </a:solidFill>
                          <a:latin typeface="Calibri"/>
                        </a:rPr>
                        <a:t>RF &amp; 5G front-end</a:t>
                      </a:r>
                    </a:p>
                  </a:txBody>
                  <a:tcPr>
                    <a:solidFill>
                      <a:srgbClr val="F4F6F9"/>
                    </a:solidFill>
                  </a:tcPr>
                </a:tc>
                <a:tc>
                  <a:txBody>
                    <a:bodyPr/>
                    <a:lstStyle/>
                    <a:p>
                      <a:pPr algn="ctr"/>
                      <a:r>
                        <a:rPr sz="1100">
                          <a:solidFill>
                            <a:srgbClr val="595959"/>
                          </a:solidFill>
                          <a:latin typeface="Calibri"/>
                        </a:rPr>
                        <a:t>RF IC design</a:t>
                      </a:r>
                    </a:p>
                  </a:txBody>
                  <a:tcPr>
                    <a:solidFill>
                      <a:srgbClr val="F4F6F9"/>
                    </a:solidFill>
                  </a:tcPr>
                </a:tc>
                <a:tc>
                  <a:txBody>
                    <a:bodyPr/>
                    <a:lstStyle/>
                    <a:p>
                      <a:pPr algn="ctr"/>
                      <a:r>
                        <a:rPr sz="1100">
                          <a:solidFill>
                            <a:srgbClr val="595959"/>
                          </a:solidFill>
                          <a:latin typeface="Calibri"/>
                        </a:rPr>
                        <a:t>52</a:t>
                      </a:r>
                    </a:p>
                  </a:txBody>
                  <a:tcPr>
                    <a:solidFill>
                      <a:srgbClr val="F4F6F9"/>
                    </a:solidFill>
                  </a:tcPr>
                </a:tc>
                <a:tc>
                  <a:txBody>
                    <a:bodyPr/>
                    <a:lstStyle/>
                    <a:p>
                      <a:pPr algn="ctr"/>
                      <a:r>
                        <a:rPr sz="1100">
                          <a:solidFill>
                            <a:srgbClr val="595959"/>
                          </a:solidFill>
                          <a:latin typeface="Calibri"/>
                        </a:rPr>
                        <a:t>17%</a:t>
                      </a:r>
                    </a:p>
                  </a:txBody>
                  <a:tcPr>
                    <a:solidFill>
                      <a:srgbClr val="F4F6F9"/>
                    </a:solidFill>
                  </a:tcPr>
                </a:tc>
                <a:tc>
                  <a:txBody>
                    <a:bodyPr/>
                    <a:lstStyle/>
                    <a:p>
                      <a:pPr algn="ctr"/>
                      <a:r>
                        <a:rPr sz="1100">
                          <a:solidFill>
                            <a:srgbClr val="595959"/>
                          </a:solidFill>
                          <a:latin typeface="Calibri"/>
                        </a:rPr>
                        <a:t>8.8</a:t>
                      </a:r>
                    </a:p>
                  </a:txBody>
                  <a:tcPr>
                    <a:solidFill>
                      <a:srgbClr val="F4F6F9"/>
                    </a:solidFill>
                  </a:tcPr>
                </a:tc>
                <a:tc>
                  <a:txBody>
                    <a:bodyPr/>
                    <a:lstStyle/>
                    <a:p>
                      <a:pPr algn="ctr"/>
                      <a:r>
                        <a:rPr sz="1100">
                          <a:solidFill>
                            <a:srgbClr val="595959"/>
                          </a:solidFill>
                          <a:latin typeface="Calibri"/>
                        </a:rPr>
                        <a:t>6.4%</a:t>
                      </a:r>
                    </a:p>
                  </a:txBody>
                  <a:tcPr>
                    <a:solidFill>
                      <a:srgbClr val="F4F6F9"/>
                    </a:solidFill>
                  </a:tcPr>
                </a:tc>
              </a:tr>
              <a:tr h="292608">
                <a:tc>
                  <a:txBody>
                    <a:bodyPr/>
                    <a:lstStyle/>
                    <a:p>
                      <a:pPr algn="l"/>
                      <a:r>
                        <a:rPr sz="1100">
                          <a:solidFill>
                            <a:srgbClr val="595959"/>
                          </a:solidFill>
                          <a:latin typeface="Calibri"/>
                        </a:rPr>
                        <a:t>Silicon photonics / optical interconnect</a:t>
                      </a:r>
                    </a:p>
                  </a:txBody>
                  <a:tcPr>
                    <a:solidFill>
                      <a:srgbClr val="FFFFFF"/>
                    </a:solidFill>
                  </a:tcPr>
                </a:tc>
                <a:tc>
                  <a:txBody>
                    <a:bodyPr/>
                    <a:lstStyle/>
                    <a:p>
                      <a:pPr algn="ctr"/>
                      <a:r>
                        <a:rPr sz="1100">
                          <a:solidFill>
                            <a:srgbClr val="595959"/>
                          </a:solidFill>
                          <a:latin typeface="Calibri"/>
                        </a:rPr>
                        <a:t>Photonic IC &amp; packaging design</a:t>
                      </a:r>
                    </a:p>
                  </a:txBody>
                  <a:tcPr>
                    <a:solidFill>
                      <a:srgbClr val="FFFFFF"/>
                    </a:solidFill>
                  </a:tcPr>
                </a:tc>
                <a:tc>
                  <a:txBody>
                    <a:bodyPr/>
                    <a:lstStyle/>
                    <a:p>
                      <a:pPr algn="ctr"/>
                      <a:r>
                        <a:rPr sz="1100">
                          <a:solidFill>
                            <a:srgbClr val="595959"/>
                          </a:solidFill>
                          <a:latin typeface="Calibri"/>
                        </a:rPr>
                        <a:t>34</a:t>
                      </a:r>
                    </a:p>
                  </a:txBody>
                  <a:tcPr>
                    <a:solidFill>
                      <a:srgbClr val="FFFFFF"/>
                    </a:solidFill>
                  </a:tcPr>
                </a:tc>
                <a:tc>
                  <a:txBody>
                    <a:bodyPr/>
                    <a:lstStyle/>
                    <a:p>
                      <a:pPr algn="ctr"/>
                      <a:r>
                        <a:rPr sz="1100">
                          <a:solidFill>
                            <a:srgbClr val="595959"/>
                          </a:solidFill>
                          <a:latin typeface="Calibri"/>
                        </a:rPr>
                        <a:t>22%</a:t>
                      </a:r>
                    </a:p>
                  </a:txBody>
                  <a:tcPr>
                    <a:solidFill>
                      <a:srgbClr val="FFFFFF"/>
                    </a:solidFill>
                  </a:tcPr>
                </a:tc>
                <a:tc>
                  <a:txBody>
                    <a:bodyPr/>
                    <a:lstStyle/>
                    <a:p>
                      <a:pPr algn="ctr"/>
                      <a:r>
                        <a:rPr sz="1100">
                          <a:solidFill>
                            <a:srgbClr val="595959"/>
                          </a:solidFill>
                          <a:latin typeface="Calibri"/>
                        </a:rPr>
                        <a:t>7.6</a:t>
                      </a:r>
                    </a:p>
                  </a:txBody>
                  <a:tcPr>
                    <a:solidFill>
                      <a:srgbClr val="FFFFFF"/>
                    </a:solidFill>
                  </a:tcPr>
                </a:tc>
                <a:tc>
                  <a:txBody>
                    <a:bodyPr/>
                    <a:lstStyle/>
                    <a:p>
                      <a:pPr algn="ctr"/>
                      <a:r>
                        <a:rPr sz="1100">
                          <a:solidFill>
                            <a:srgbClr val="595959"/>
                          </a:solidFill>
                          <a:latin typeface="Calibri"/>
                        </a:rPr>
                        <a:t>22.0%</a:t>
                      </a:r>
                    </a:p>
                  </a:txBody>
                  <a:tcPr>
                    <a:solidFill>
                      <a:srgbClr val="FFFFFF"/>
                    </a:solidFill>
                  </a:tcPr>
                </a:tc>
              </a:tr>
              <a:tr h="292608">
                <a:tc>
                  <a:txBody>
                    <a:bodyPr/>
                    <a:lstStyle/>
                    <a:p>
                      <a:pPr algn="l"/>
                      <a:r>
                        <a:rPr sz="1100">
                          <a:solidFill>
                            <a:srgbClr val="595959"/>
                          </a:solidFill>
                          <a:latin typeface="Calibri"/>
                        </a:rPr>
                        <a:t>MEMS &amp; sensors</a:t>
                      </a:r>
                    </a:p>
                  </a:txBody>
                  <a:tcPr>
                    <a:solidFill>
                      <a:srgbClr val="F4F6F9"/>
                    </a:solidFill>
                  </a:tcPr>
                </a:tc>
                <a:tc>
                  <a:txBody>
                    <a:bodyPr/>
                    <a:lstStyle/>
                    <a:p>
                      <a:pPr algn="ctr"/>
                      <a:r>
                        <a:rPr sz="1100">
                          <a:solidFill>
                            <a:srgbClr val="595959"/>
                          </a:solidFill>
                          <a:latin typeface="Calibri"/>
                        </a:rPr>
                        <a:t>Mixed-signal &amp; sensor design</a:t>
                      </a:r>
                    </a:p>
                  </a:txBody>
                  <a:tcPr>
                    <a:solidFill>
                      <a:srgbClr val="F4F6F9"/>
                    </a:solidFill>
                  </a:tcPr>
                </a:tc>
                <a:tc>
                  <a:txBody>
                    <a:bodyPr/>
                    <a:lstStyle/>
                    <a:p>
                      <a:pPr algn="ctr"/>
                      <a:r>
                        <a:rPr sz="1100">
                          <a:solidFill>
                            <a:srgbClr val="595959"/>
                          </a:solidFill>
                          <a:latin typeface="Calibri"/>
                        </a:rPr>
                        <a:t>33</a:t>
                      </a:r>
                    </a:p>
                  </a:txBody>
                  <a:tcPr>
                    <a:solidFill>
                      <a:srgbClr val="F4F6F9"/>
                    </a:solidFill>
                  </a:tcPr>
                </a:tc>
                <a:tc>
                  <a:txBody>
                    <a:bodyPr/>
                    <a:lstStyle/>
                    <a:p>
                      <a:pPr algn="ctr"/>
                      <a:r>
                        <a:rPr sz="1100">
                          <a:solidFill>
                            <a:srgbClr val="595959"/>
                          </a:solidFill>
                          <a:latin typeface="Calibri"/>
                        </a:rPr>
                        <a:t>20%</a:t>
                      </a:r>
                    </a:p>
                  </a:txBody>
                  <a:tcPr>
                    <a:solidFill>
                      <a:srgbClr val="F4F6F9"/>
                    </a:solidFill>
                  </a:tcPr>
                </a:tc>
                <a:tc>
                  <a:txBody>
                    <a:bodyPr/>
                    <a:lstStyle/>
                    <a:p>
                      <a:pPr algn="ctr"/>
                      <a:r>
                        <a:rPr sz="1100">
                          <a:solidFill>
                            <a:srgbClr val="595959"/>
                          </a:solidFill>
                          <a:latin typeface="Calibri"/>
                        </a:rPr>
                        <a:t>6.6</a:t>
                      </a:r>
                    </a:p>
                  </a:txBody>
                  <a:tcPr>
                    <a:solidFill>
                      <a:srgbClr val="F4F6F9"/>
                    </a:solidFill>
                  </a:tcPr>
                </a:tc>
                <a:tc>
                  <a:txBody>
                    <a:bodyPr/>
                    <a:lstStyle/>
                    <a:p>
                      <a:pPr algn="ctr"/>
                      <a:r>
                        <a:rPr sz="1100">
                          <a:solidFill>
                            <a:srgbClr val="595959"/>
                          </a:solidFill>
                          <a:latin typeface="Calibri"/>
                        </a:rPr>
                        <a:t>7.0%</a:t>
                      </a:r>
                    </a:p>
                  </a:txBody>
                  <a:tcPr>
                    <a:solidFill>
                      <a:srgbClr val="F4F6F9"/>
                    </a:solidFill>
                  </a:tcPr>
                </a:tc>
              </a:tr>
            </a:tbl>
          </a:graphicData>
        </a:graphic>
      </p:graphicFrame>
      <p:sp>
        <p:nvSpPr>
          <p:cNvPr id="8" name="TextBox 7"/>
          <p:cNvSpPr txBox="1"/>
          <p:nvPr/>
        </p:nvSpPr>
        <p:spPr>
          <a:xfrm>
            <a:off x="502920" y="4617720"/>
            <a:ext cx="11185855" cy="822960"/>
          </a:xfrm>
          <a:prstGeom prst="rect">
            <a:avLst/>
          </a:prstGeom>
          <a:noFill/>
        </p:spPr>
        <p:txBody>
          <a:bodyPr wrap="square">
            <a:spAutoFit/>
          </a:bodyPr>
          <a:lstStyle/>
          <a:p>
            <a:pPr algn="l">
              <a:spcAft>
                <a:spcPts val="600"/>
              </a:spcAft>
            </a:pPr>
            <a:r>
              <a:rPr sz="1200" b="0" i="0">
                <a:solidFill>
                  <a:srgbClr val="595959"/>
                </a:solidFill>
                <a:latin typeface="Calibri"/>
              </a:rPr>
              <a:t>Addressable share is the share of a segment's TAM that a design-services provider can realistically be engaged on. It ranges from 4.5% in memory, where design stays captive inside a handful of integrated device manufacturers, to 25.5% in analog. Everything that follows is scored on the serviceable column, never on the TAM column.</a:t>
            </a:r>
          </a:p>
        </p:txBody>
      </p:sp>
      <p:sp>
        <p:nvSpPr>
          <p:cNvPr id="9" name="Rectangle 8"/>
          <p:cNvSpPr/>
          <p:nvPr/>
        </p:nvSpPr>
        <p:spPr>
          <a:xfrm>
            <a:off x="502920" y="5532120"/>
            <a:ext cx="11185855" cy="65836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614416"/>
            <a:ext cx="10911535" cy="548640"/>
          </a:xfrm>
          <a:prstGeom prst="rect">
            <a:avLst/>
          </a:prstGeom>
          <a:noFill/>
        </p:spPr>
        <p:txBody>
          <a:bodyPr wrap="square">
            <a:spAutoFit/>
          </a:bodyPr>
          <a:lstStyle/>
          <a:p>
            <a:pPr algn="l">
              <a:spcAft>
                <a:spcPts val="600"/>
              </a:spcAft>
            </a:pPr>
            <a:r>
              <a:rPr sz="1100" b="0" i="1">
                <a:solidFill>
                  <a:srgbClr val="595959"/>
                </a:solidFill>
                <a:latin typeface="Calibri"/>
              </a:rPr>
              <a:t>Data disclosure: Illustrative dataset constructed to be directionally consistent with publicly reported industry estimates. Figures are for methodology demonstration and are not market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777240"/>
          </a:xfrm>
          <a:prstGeom prst="rect">
            <a:avLst/>
          </a:prstGeom>
          <a:noFill/>
        </p:spPr>
        <p:txBody>
          <a:bodyPr wrap="square">
            <a:spAutoFit/>
          </a:bodyPr>
          <a:lstStyle/>
          <a:p>
            <a:pPr algn="l">
              <a:spcAft>
                <a:spcPts val="600"/>
              </a:spcAft>
            </a:pPr>
            <a:r>
              <a:rPr sz="2700" b="1" i="0">
                <a:solidFill>
                  <a:srgbClr val="1F3864"/>
                </a:solidFill>
                <a:latin typeface="Calibri"/>
              </a:rPr>
              <a:t>Ranking on TAM would put memory second; on serviceable market it is fifth</a:t>
            </a:r>
          </a:p>
        </p:txBody>
      </p:sp>
      <p:sp>
        <p:nvSpPr>
          <p:cNvPr id="3" name="Rectangle 2"/>
          <p:cNvSpPr/>
          <p:nvPr/>
        </p:nvSpPr>
        <p:spPr>
          <a:xfrm>
            <a:off x="502920" y="1225296"/>
            <a:ext cx="11185855" cy="14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11185855" cy="274320"/>
          </a:xfrm>
          <a:prstGeom prst="rect">
            <a:avLst/>
          </a:prstGeom>
          <a:noFill/>
        </p:spPr>
        <p:txBody>
          <a:bodyPr wrap="square">
            <a:spAutoFit/>
          </a:bodyPr>
          <a:lstStyle/>
          <a:p>
            <a:pPr algn="l">
              <a:spcAft>
                <a:spcPts val="600"/>
              </a:spcAft>
            </a:pPr>
            <a:r>
              <a:rPr sz="1100" b="0" i="1">
                <a:solidFill>
                  <a:srgbClr val="595959"/>
                </a:solidFill>
                <a:latin typeface="Calibri"/>
              </a:rPr>
              <a:t>Growth and serviceable-market analysis | 2030</a:t>
            </a:r>
          </a:p>
        </p:txBody>
      </p:sp>
      <p:sp>
        <p:nvSpPr>
          <p:cNvPr id="5" name="TextBox 4"/>
          <p:cNvSpPr txBox="1"/>
          <p:nvPr/>
        </p:nvSpPr>
        <p:spPr>
          <a:xfrm>
            <a:off x="502920" y="6428232"/>
            <a:ext cx="9601200" cy="274320"/>
          </a:xfrm>
          <a:prstGeom prst="rect">
            <a:avLst/>
          </a:prstGeom>
          <a:noFill/>
        </p:spPr>
        <p:txBody>
          <a:bodyPr wrap="square">
            <a:spAutoFit/>
          </a:bodyPr>
          <a:lstStyle/>
          <a:p>
            <a:pPr algn="l">
              <a:spcAft>
                <a:spcPts val="600"/>
              </a:spcAft>
            </a:pPr>
            <a:r>
              <a:rPr sz="900" b="0" i="0">
                <a:solidFill>
                  <a:srgbClr val="595959"/>
                </a:solidFill>
                <a:latin typeface="Calibri"/>
              </a:rPr>
              <a:t>Semiconductor design-services opportunity  |  Illustrative dataset, not market research</a:t>
            </a:r>
          </a:p>
        </p:txBody>
      </p:sp>
      <p:sp>
        <p:nvSpPr>
          <p:cNvPr id="6" name="TextBox 5"/>
          <p:cNvSpPr txBox="1"/>
          <p:nvPr/>
        </p:nvSpPr>
        <p:spPr>
          <a:xfrm>
            <a:off x="11094415" y="6428232"/>
            <a:ext cx="594360" cy="274320"/>
          </a:xfrm>
          <a:prstGeom prst="rect">
            <a:avLst/>
          </a:prstGeom>
          <a:noFill/>
        </p:spPr>
        <p:txBody>
          <a:bodyPr wrap="square">
            <a:spAutoFit/>
          </a:bodyPr>
          <a:lstStyle/>
          <a:p>
            <a:pPr algn="r">
              <a:spcAft>
                <a:spcPts val="600"/>
              </a:spcAft>
            </a:pPr>
            <a:r>
              <a:rPr sz="900" b="0" i="0">
                <a:solidFill>
                  <a:srgbClr val="595959"/>
                </a:solidFill>
                <a:latin typeface="Calibri"/>
              </a:rPr>
              <a:t>3</a:t>
            </a:r>
          </a:p>
        </p:txBody>
      </p:sp>
      <p:sp>
        <p:nvSpPr>
          <p:cNvPr id="7" name="TextBox 6"/>
          <p:cNvSpPr txBox="1"/>
          <p:nvPr/>
        </p:nvSpPr>
        <p:spPr>
          <a:xfrm>
            <a:off x="502920" y="1417320"/>
            <a:ext cx="4572000" cy="274320"/>
          </a:xfrm>
          <a:prstGeom prst="rect">
            <a:avLst/>
          </a:prstGeom>
          <a:noFill/>
        </p:spPr>
        <p:txBody>
          <a:bodyPr wrap="square">
            <a:spAutoFit/>
          </a:bodyPr>
          <a:lstStyle/>
          <a:p>
            <a:pPr algn="l">
              <a:spcAft>
                <a:spcPts val="600"/>
              </a:spcAft>
            </a:pPr>
            <a:r>
              <a:rPr sz="1200" b="1" i="0">
                <a:solidFill>
                  <a:srgbClr val="1F3864"/>
                </a:solidFill>
                <a:latin typeface="Calibri"/>
              </a:rPr>
              <a:t>2030 market, USD bn</a:t>
            </a:r>
          </a:p>
        </p:txBody>
      </p:sp>
      <p:sp>
        <p:nvSpPr>
          <p:cNvPr id="8" name="TextBox 7"/>
          <p:cNvSpPr txBox="1"/>
          <p:nvPr/>
        </p:nvSpPr>
        <p:spPr>
          <a:xfrm>
            <a:off x="5349240" y="1417320"/>
            <a:ext cx="2743200" cy="274320"/>
          </a:xfrm>
          <a:prstGeom prst="rect">
            <a:avLst/>
          </a:prstGeom>
          <a:noFill/>
        </p:spPr>
        <p:txBody>
          <a:bodyPr wrap="square">
            <a:spAutoFit/>
          </a:bodyPr>
          <a:lstStyle/>
          <a:p>
            <a:pPr algn="l">
              <a:spcAft>
                <a:spcPts val="600"/>
              </a:spcAft>
            </a:pPr>
            <a:r>
              <a:rPr sz="1200" b="1" i="0">
                <a:solidFill>
                  <a:srgbClr val="1B6B45"/>
                </a:solidFill>
                <a:latin typeface="Calibri"/>
              </a:rPr>
              <a:t>Reachable</a:t>
            </a:r>
          </a:p>
        </p:txBody>
      </p:sp>
      <p:sp>
        <p:nvSpPr>
          <p:cNvPr id="9" name="TextBox 8"/>
          <p:cNvSpPr txBox="1"/>
          <p:nvPr/>
        </p:nvSpPr>
        <p:spPr>
          <a:xfrm>
            <a:off x="6537960" y="1417320"/>
            <a:ext cx="2743200" cy="274320"/>
          </a:xfrm>
          <a:prstGeom prst="rect">
            <a:avLst/>
          </a:prstGeom>
          <a:noFill/>
        </p:spPr>
        <p:txBody>
          <a:bodyPr wrap="square">
            <a:spAutoFit/>
          </a:bodyPr>
          <a:lstStyle/>
          <a:p>
            <a:pPr algn="l">
              <a:spcAft>
                <a:spcPts val="600"/>
              </a:spcAft>
            </a:pPr>
            <a:r>
              <a:rPr sz="1200" b="1" i="0">
                <a:solidFill>
                  <a:srgbClr val="595959"/>
                </a:solidFill>
                <a:latin typeface="Calibri"/>
              </a:rPr>
              <a:t>Out of reach</a:t>
            </a:r>
          </a:p>
        </p:txBody>
      </p:sp>
      <p:sp>
        <p:nvSpPr>
          <p:cNvPr id="10" name="TextBox 9"/>
          <p:cNvSpPr txBox="1"/>
          <p:nvPr/>
        </p:nvSpPr>
        <p:spPr>
          <a:xfrm>
            <a:off x="502920" y="1728216"/>
            <a:ext cx="2788920" cy="274320"/>
          </a:xfrm>
          <a:prstGeom prst="rect">
            <a:avLst/>
          </a:prstGeom>
          <a:noFill/>
        </p:spPr>
        <p:txBody>
          <a:bodyPr wrap="square">
            <a:spAutoFit/>
          </a:bodyPr>
          <a:lstStyle/>
          <a:p>
            <a:pPr algn="l">
              <a:spcAft>
                <a:spcPts val="600"/>
              </a:spcAft>
            </a:pPr>
            <a:r>
              <a:rPr sz="1100" b="0" i="0">
                <a:solidFill>
                  <a:srgbClr val="1F3864"/>
                </a:solidFill>
                <a:latin typeface="Calibri"/>
              </a:rPr>
              <a:t>HPC / AI accelerator ASICs</a:t>
            </a:r>
          </a:p>
        </p:txBody>
      </p:sp>
      <p:sp>
        <p:nvSpPr>
          <p:cNvPr id="11" name="Rectangle 10"/>
          <p:cNvSpPr/>
          <p:nvPr/>
        </p:nvSpPr>
        <p:spPr>
          <a:xfrm>
            <a:off x="3383280" y="1783080"/>
            <a:ext cx="5897880"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1783080"/>
            <a:ext cx="796213"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72600" y="1728216"/>
            <a:ext cx="2194560" cy="274320"/>
          </a:xfrm>
          <a:prstGeom prst="rect">
            <a:avLst/>
          </a:prstGeom>
          <a:noFill/>
        </p:spPr>
        <p:txBody>
          <a:bodyPr wrap="square">
            <a:spAutoFit/>
          </a:bodyPr>
          <a:lstStyle/>
          <a:p>
            <a:pPr algn="l">
              <a:spcAft>
                <a:spcPts val="600"/>
              </a:spcAft>
            </a:pPr>
            <a:r>
              <a:rPr sz="1000" b="0" i="0">
                <a:solidFill>
                  <a:srgbClr val="595959"/>
                </a:solidFill>
                <a:latin typeface="Calibri"/>
              </a:rPr>
              <a:t>59.1 of 438</a:t>
            </a:r>
          </a:p>
        </p:txBody>
      </p:sp>
      <p:sp>
        <p:nvSpPr>
          <p:cNvPr id="14" name="TextBox 13"/>
          <p:cNvSpPr txBox="1"/>
          <p:nvPr/>
        </p:nvSpPr>
        <p:spPr>
          <a:xfrm>
            <a:off x="502920" y="2112264"/>
            <a:ext cx="2788920" cy="274320"/>
          </a:xfrm>
          <a:prstGeom prst="rect">
            <a:avLst/>
          </a:prstGeom>
          <a:noFill/>
        </p:spPr>
        <p:txBody>
          <a:bodyPr wrap="square">
            <a:spAutoFit/>
          </a:bodyPr>
          <a:lstStyle/>
          <a:p>
            <a:pPr algn="l">
              <a:spcAft>
                <a:spcPts val="600"/>
              </a:spcAft>
            </a:pPr>
            <a:r>
              <a:rPr sz="1100" b="0" i="0">
                <a:solidFill>
                  <a:srgbClr val="1F3864"/>
                </a:solidFill>
                <a:latin typeface="Calibri"/>
              </a:rPr>
              <a:t>Automotive &amp; ADAS silicon</a:t>
            </a:r>
          </a:p>
        </p:txBody>
      </p:sp>
      <p:sp>
        <p:nvSpPr>
          <p:cNvPr id="15" name="Rectangle 14"/>
          <p:cNvSpPr/>
          <p:nvPr/>
        </p:nvSpPr>
        <p:spPr>
          <a:xfrm>
            <a:off x="3383280" y="2167128"/>
            <a:ext cx="1890894"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2167128"/>
            <a:ext cx="463269"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65614" y="2112264"/>
            <a:ext cx="2194560" cy="274320"/>
          </a:xfrm>
          <a:prstGeom prst="rect">
            <a:avLst/>
          </a:prstGeom>
          <a:noFill/>
        </p:spPr>
        <p:txBody>
          <a:bodyPr wrap="square">
            <a:spAutoFit/>
          </a:bodyPr>
          <a:lstStyle/>
          <a:p>
            <a:pPr algn="l">
              <a:spcAft>
                <a:spcPts val="600"/>
              </a:spcAft>
            </a:pPr>
            <a:r>
              <a:rPr sz="1000" b="0" i="0">
                <a:solidFill>
                  <a:srgbClr val="595959"/>
                </a:solidFill>
                <a:latin typeface="Calibri"/>
              </a:rPr>
              <a:t>34.4 of 140</a:t>
            </a:r>
          </a:p>
        </p:txBody>
      </p:sp>
      <p:sp>
        <p:nvSpPr>
          <p:cNvPr id="18" name="TextBox 17"/>
          <p:cNvSpPr txBox="1"/>
          <p:nvPr/>
        </p:nvSpPr>
        <p:spPr>
          <a:xfrm>
            <a:off x="502920" y="2496312"/>
            <a:ext cx="2788920" cy="274320"/>
          </a:xfrm>
          <a:prstGeom prst="rect">
            <a:avLst/>
          </a:prstGeom>
          <a:noFill/>
        </p:spPr>
        <p:txBody>
          <a:bodyPr wrap="square">
            <a:spAutoFit/>
          </a:bodyPr>
          <a:lstStyle/>
          <a:p>
            <a:pPr algn="l">
              <a:spcAft>
                <a:spcPts val="600"/>
              </a:spcAft>
            </a:pPr>
            <a:r>
              <a:rPr sz="1100" b="0" i="0">
                <a:solidFill>
                  <a:srgbClr val="1F3864"/>
                </a:solidFill>
                <a:latin typeface="Calibri"/>
              </a:rPr>
              <a:t>Analog &amp; mixed-signal</a:t>
            </a:r>
          </a:p>
        </p:txBody>
      </p:sp>
      <p:sp>
        <p:nvSpPr>
          <p:cNvPr id="19" name="Rectangle 18"/>
          <p:cNvSpPr/>
          <p:nvPr/>
        </p:nvSpPr>
        <p:spPr>
          <a:xfrm>
            <a:off x="3383280" y="2551176"/>
            <a:ext cx="1778101"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83280" y="2551176"/>
            <a:ext cx="453415"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2821" y="2496312"/>
            <a:ext cx="2194560" cy="274320"/>
          </a:xfrm>
          <a:prstGeom prst="rect">
            <a:avLst/>
          </a:prstGeom>
          <a:noFill/>
        </p:spPr>
        <p:txBody>
          <a:bodyPr wrap="square">
            <a:spAutoFit/>
          </a:bodyPr>
          <a:lstStyle/>
          <a:p>
            <a:pPr algn="l">
              <a:spcAft>
                <a:spcPts val="600"/>
              </a:spcAft>
            </a:pPr>
            <a:r>
              <a:rPr sz="1000" b="0" i="0">
                <a:solidFill>
                  <a:srgbClr val="595959"/>
                </a:solidFill>
                <a:latin typeface="Calibri"/>
              </a:rPr>
              <a:t>33.7 of 132</a:t>
            </a:r>
          </a:p>
        </p:txBody>
      </p:sp>
      <p:sp>
        <p:nvSpPr>
          <p:cNvPr id="22" name="TextBox 21"/>
          <p:cNvSpPr txBox="1"/>
          <p:nvPr/>
        </p:nvSpPr>
        <p:spPr>
          <a:xfrm>
            <a:off x="502920" y="2880360"/>
            <a:ext cx="2788920" cy="274320"/>
          </a:xfrm>
          <a:prstGeom prst="rect">
            <a:avLst/>
          </a:prstGeom>
          <a:noFill/>
        </p:spPr>
        <p:txBody>
          <a:bodyPr wrap="square">
            <a:spAutoFit/>
          </a:bodyPr>
          <a:lstStyle/>
          <a:p>
            <a:pPr algn="l">
              <a:spcAft>
                <a:spcPts val="600"/>
              </a:spcAft>
            </a:pPr>
            <a:r>
              <a:rPr sz="1100" b="0" i="0">
                <a:solidFill>
                  <a:srgbClr val="1F3864"/>
                </a:solidFill>
                <a:latin typeface="Calibri"/>
              </a:rPr>
              <a:t>Power electronics (SiC / GaN)</a:t>
            </a:r>
          </a:p>
        </p:txBody>
      </p:sp>
      <p:sp>
        <p:nvSpPr>
          <p:cNvPr id="23" name="Rectangle 22"/>
          <p:cNvSpPr/>
          <p:nvPr/>
        </p:nvSpPr>
        <p:spPr>
          <a:xfrm>
            <a:off x="3383280" y="2935224"/>
            <a:ext cx="934360"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83280" y="2935224"/>
            <a:ext cx="177528"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9080" y="2880360"/>
            <a:ext cx="2194560" cy="274320"/>
          </a:xfrm>
          <a:prstGeom prst="rect">
            <a:avLst/>
          </a:prstGeom>
          <a:noFill/>
        </p:spPr>
        <p:txBody>
          <a:bodyPr wrap="square">
            <a:spAutoFit/>
          </a:bodyPr>
          <a:lstStyle/>
          <a:p>
            <a:pPr algn="l">
              <a:spcAft>
                <a:spcPts val="600"/>
              </a:spcAft>
            </a:pPr>
            <a:r>
              <a:rPr sz="1000" b="0" i="0">
                <a:solidFill>
                  <a:srgbClr val="595959"/>
                </a:solidFill>
                <a:latin typeface="Calibri"/>
              </a:rPr>
              <a:t>13.2 of 69</a:t>
            </a:r>
          </a:p>
        </p:txBody>
      </p:sp>
      <p:sp>
        <p:nvSpPr>
          <p:cNvPr id="26" name="TextBox 25"/>
          <p:cNvSpPr txBox="1"/>
          <p:nvPr/>
        </p:nvSpPr>
        <p:spPr>
          <a:xfrm>
            <a:off x="502920" y="3264408"/>
            <a:ext cx="2788920" cy="274320"/>
          </a:xfrm>
          <a:prstGeom prst="rect">
            <a:avLst/>
          </a:prstGeom>
          <a:noFill/>
        </p:spPr>
        <p:txBody>
          <a:bodyPr wrap="square">
            <a:spAutoFit/>
          </a:bodyPr>
          <a:lstStyle/>
          <a:p>
            <a:pPr algn="l">
              <a:spcAft>
                <a:spcPts val="600"/>
              </a:spcAft>
            </a:pPr>
            <a:r>
              <a:rPr sz="1100" b="0" i="0">
                <a:solidFill>
                  <a:srgbClr val="1F3864"/>
                </a:solidFill>
                <a:latin typeface="Calibri"/>
              </a:rPr>
              <a:t>Memory (DRAM / NAND)</a:t>
            </a:r>
          </a:p>
        </p:txBody>
      </p:sp>
      <p:sp>
        <p:nvSpPr>
          <p:cNvPr id="27" name="Rectangle 26"/>
          <p:cNvSpPr/>
          <p:nvPr/>
        </p:nvSpPr>
        <p:spPr>
          <a:xfrm>
            <a:off x="3383280" y="3319272"/>
            <a:ext cx="3647145"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83280" y="3319272"/>
            <a:ext cx="164120"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21865" y="3264408"/>
            <a:ext cx="2194560" cy="274320"/>
          </a:xfrm>
          <a:prstGeom prst="rect">
            <a:avLst/>
          </a:prstGeom>
          <a:noFill/>
        </p:spPr>
        <p:txBody>
          <a:bodyPr wrap="square">
            <a:spAutoFit/>
          </a:bodyPr>
          <a:lstStyle/>
          <a:p>
            <a:pPr algn="l">
              <a:spcAft>
                <a:spcPts val="600"/>
              </a:spcAft>
            </a:pPr>
            <a:r>
              <a:rPr sz="1000" b="0" i="0">
                <a:solidFill>
                  <a:srgbClr val="595959"/>
                </a:solidFill>
                <a:latin typeface="Calibri"/>
              </a:rPr>
              <a:t>12.2 of 271</a:t>
            </a:r>
          </a:p>
        </p:txBody>
      </p:sp>
      <p:sp>
        <p:nvSpPr>
          <p:cNvPr id="30" name="TextBox 29"/>
          <p:cNvSpPr txBox="1"/>
          <p:nvPr/>
        </p:nvSpPr>
        <p:spPr>
          <a:xfrm>
            <a:off x="502920" y="3648456"/>
            <a:ext cx="2788920" cy="274320"/>
          </a:xfrm>
          <a:prstGeom prst="rect">
            <a:avLst/>
          </a:prstGeom>
          <a:noFill/>
        </p:spPr>
        <p:txBody>
          <a:bodyPr wrap="square">
            <a:spAutoFit/>
          </a:bodyPr>
          <a:lstStyle/>
          <a:p>
            <a:pPr algn="l">
              <a:spcAft>
                <a:spcPts val="600"/>
              </a:spcAft>
            </a:pPr>
            <a:r>
              <a:rPr sz="1100" b="0" i="0">
                <a:solidFill>
                  <a:srgbClr val="1F3864"/>
                </a:solidFill>
                <a:latin typeface="Calibri"/>
              </a:rPr>
              <a:t>RF &amp; 5G front-end</a:t>
            </a:r>
          </a:p>
        </p:txBody>
      </p:sp>
      <p:sp>
        <p:nvSpPr>
          <p:cNvPr id="31" name="Rectangle 30"/>
          <p:cNvSpPr/>
          <p:nvPr/>
        </p:nvSpPr>
        <p:spPr>
          <a:xfrm>
            <a:off x="3383280" y="3703320"/>
            <a:ext cx="698838"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83280" y="3703320"/>
            <a:ext cx="118803"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73558" y="3648456"/>
            <a:ext cx="2194560" cy="274320"/>
          </a:xfrm>
          <a:prstGeom prst="rect">
            <a:avLst/>
          </a:prstGeom>
          <a:noFill/>
        </p:spPr>
        <p:txBody>
          <a:bodyPr wrap="square">
            <a:spAutoFit/>
          </a:bodyPr>
          <a:lstStyle/>
          <a:p>
            <a:pPr algn="l">
              <a:spcAft>
                <a:spcPts val="600"/>
              </a:spcAft>
            </a:pPr>
            <a:r>
              <a:rPr sz="1000" b="0" i="0">
                <a:solidFill>
                  <a:srgbClr val="595959"/>
                </a:solidFill>
                <a:latin typeface="Calibri"/>
              </a:rPr>
              <a:t>8.8 of 52</a:t>
            </a:r>
          </a:p>
        </p:txBody>
      </p:sp>
      <p:sp>
        <p:nvSpPr>
          <p:cNvPr id="34" name="TextBox 33"/>
          <p:cNvSpPr txBox="1"/>
          <p:nvPr/>
        </p:nvSpPr>
        <p:spPr>
          <a:xfrm>
            <a:off x="502920" y="4032504"/>
            <a:ext cx="2788920" cy="274320"/>
          </a:xfrm>
          <a:prstGeom prst="rect">
            <a:avLst/>
          </a:prstGeom>
          <a:noFill/>
        </p:spPr>
        <p:txBody>
          <a:bodyPr wrap="square">
            <a:spAutoFit/>
          </a:bodyPr>
          <a:lstStyle/>
          <a:p>
            <a:pPr algn="l">
              <a:spcAft>
                <a:spcPts val="600"/>
              </a:spcAft>
            </a:pPr>
            <a:r>
              <a:rPr sz="1100" b="0" i="0">
                <a:solidFill>
                  <a:srgbClr val="1F3864"/>
                </a:solidFill>
                <a:latin typeface="Calibri"/>
              </a:rPr>
              <a:t>Silicon photonics / optical interconnect</a:t>
            </a:r>
          </a:p>
        </p:txBody>
      </p:sp>
      <p:sp>
        <p:nvSpPr>
          <p:cNvPr id="35" name="Rectangle 34"/>
          <p:cNvSpPr/>
          <p:nvPr/>
        </p:nvSpPr>
        <p:spPr>
          <a:xfrm>
            <a:off x="3383280" y="4087368"/>
            <a:ext cx="453919"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83280" y="4087368"/>
            <a:ext cx="102131"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28639" y="4032504"/>
            <a:ext cx="2194560" cy="274320"/>
          </a:xfrm>
          <a:prstGeom prst="rect">
            <a:avLst/>
          </a:prstGeom>
          <a:noFill/>
        </p:spPr>
        <p:txBody>
          <a:bodyPr wrap="square">
            <a:spAutoFit/>
          </a:bodyPr>
          <a:lstStyle/>
          <a:p>
            <a:pPr algn="l">
              <a:spcAft>
                <a:spcPts val="600"/>
              </a:spcAft>
            </a:pPr>
            <a:r>
              <a:rPr sz="1000" b="0" i="0">
                <a:solidFill>
                  <a:srgbClr val="595959"/>
                </a:solidFill>
                <a:latin typeface="Calibri"/>
              </a:rPr>
              <a:t>7.6 of 34</a:t>
            </a:r>
          </a:p>
        </p:txBody>
      </p:sp>
      <p:sp>
        <p:nvSpPr>
          <p:cNvPr id="38" name="TextBox 37"/>
          <p:cNvSpPr txBox="1"/>
          <p:nvPr/>
        </p:nvSpPr>
        <p:spPr>
          <a:xfrm>
            <a:off x="502920" y="4416552"/>
            <a:ext cx="2788920" cy="274320"/>
          </a:xfrm>
          <a:prstGeom prst="rect">
            <a:avLst/>
          </a:prstGeom>
          <a:noFill/>
        </p:spPr>
        <p:txBody>
          <a:bodyPr wrap="square">
            <a:spAutoFit/>
          </a:bodyPr>
          <a:lstStyle/>
          <a:p>
            <a:pPr algn="l">
              <a:spcAft>
                <a:spcPts val="600"/>
              </a:spcAft>
            </a:pPr>
            <a:r>
              <a:rPr sz="1100" b="0" i="0">
                <a:solidFill>
                  <a:srgbClr val="1F3864"/>
                </a:solidFill>
                <a:latin typeface="Calibri"/>
              </a:rPr>
              <a:t>MEMS &amp; sensors</a:t>
            </a:r>
          </a:p>
        </p:txBody>
      </p:sp>
      <p:sp>
        <p:nvSpPr>
          <p:cNvPr id="39" name="Rectangle 38"/>
          <p:cNvSpPr/>
          <p:nvPr/>
        </p:nvSpPr>
        <p:spPr>
          <a:xfrm>
            <a:off x="3383280" y="4471416"/>
            <a:ext cx="447362" cy="21945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383280" y="4471416"/>
            <a:ext cx="89472" cy="219456"/>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22082" y="4416552"/>
            <a:ext cx="2194560" cy="274320"/>
          </a:xfrm>
          <a:prstGeom prst="rect">
            <a:avLst/>
          </a:prstGeom>
          <a:noFill/>
        </p:spPr>
        <p:txBody>
          <a:bodyPr wrap="square">
            <a:spAutoFit/>
          </a:bodyPr>
          <a:lstStyle/>
          <a:p>
            <a:pPr algn="l">
              <a:spcAft>
                <a:spcPts val="600"/>
              </a:spcAft>
            </a:pPr>
            <a:r>
              <a:rPr sz="1000" b="0" i="0">
                <a:solidFill>
                  <a:srgbClr val="595959"/>
                </a:solidFill>
                <a:latin typeface="Calibri"/>
              </a:rPr>
              <a:t>6.6 of 33</a:t>
            </a:r>
          </a:p>
        </p:txBody>
      </p:sp>
      <p:sp>
        <p:nvSpPr>
          <p:cNvPr id="42" name="TextBox 41"/>
          <p:cNvSpPr txBox="1"/>
          <p:nvPr/>
        </p:nvSpPr>
        <p:spPr>
          <a:xfrm>
            <a:off x="502920" y="4983480"/>
            <a:ext cx="11185855" cy="1280160"/>
          </a:xfrm>
          <a:prstGeom prst="rect">
            <a:avLst/>
          </a:prstGeom>
          <a:noFill/>
        </p:spPr>
        <p:txBody>
          <a:bodyPr wrap="square">
            <a:spAutoFit/>
          </a:bodyPr>
          <a:lstStyle/>
          <a:p>
            <a:pPr algn="l">
              <a:spcAft>
                <a:spcPts val="600"/>
              </a:spcAft>
            </a:pPr>
            <a:r>
              <a:rPr sz="1200" b="0" i="0">
                <a:solidFill>
                  <a:srgbClr val="595959"/>
                </a:solidFill>
                <a:latin typeface="Calibri"/>
              </a:rPr>
              <a:t>Memory has the second-largest bar and almost no green in it: 95.5% of that market is out of reach. HPC, automotive and analog are the three segments where both the bar and the green portion are large. Growth alone does not settle it either - silicon photonics compounds at 22%, the fastest in the set, on a serviceable base of USD 7.6bn, which is a partnership, not a capacity build.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777240"/>
          </a:xfrm>
          <a:prstGeom prst="rect">
            <a:avLst/>
          </a:prstGeom>
          <a:noFill/>
        </p:spPr>
        <p:txBody>
          <a:bodyPr wrap="square">
            <a:spAutoFit/>
          </a:bodyPr>
          <a:lstStyle/>
          <a:p>
            <a:pPr algn="l">
              <a:spcAft>
                <a:spcPts val="600"/>
              </a:spcAft>
            </a:pPr>
            <a:r>
              <a:rPr sz="2700" b="1" i="0">
                <a:solidFill>
                  <a:srgbClr val="1F3864"/>
                </a:solidFill>
                <a:latin typeface="Calibri"/>
              </a:rPr>
              <a:t>Power electronics grows through 2030 and gets less attractive every year after 2027</a:t>
            </a:r>
          </a:p>
        </p:txBody>
      </p:sp>
      <p:sp>
        <p:nvSpPr>
          <p:cNvPr id="3" name="Rectangle 2"/>
          <p:cNvSpPr/>
          <p:nvPr/>
        </p:nvSpPr>
        <p:spPr>
          <a:xfrm>
            <a:off x="502920" y="1225296"/>
            <a:ext cx="11185855" cy="14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11185855" cy="274320"/>
          </a:xfrm>
          <a:prstGeom prst="rect">
            <a:avLst/>
          </a:prstGeom>
          <a:noFill/>
        </p:spPr>
        <p:txBody>
          <a:bodyPr wrap="square">
            <a:spAutoFit/>
          </a:bodyPr>
          <a:lstStyle/>
          <a:p>
            <a:pPr algn="l">
              <a:spcAft>
                <a:spcPts val="600"/>
              </a:spcAft>
            </a:pPr>
            <a:r>
              <a:rPr sz="1100" b="0" i="1">
                <a:solidFill>
                  <a:srgbClr val="595959"/>
                </a:solidFill>
                <a:latin typeface="Calibri"/>
              </a:rPr>
              <a:t>Competitive and opportunity analysis | the case for not ranking on size</a:t>
            </a:r>
          </a:p>
        </p:txBody>
      </p:sp>
      <p:sp>
        <p:nvSpPr>
          <p:cNvPr id="5" name="TextBox 4"/>
          <p:cNvSpPr txBox="1"/>
          <p:nvPr/>
        </p:nvSpPr>
        <p:spPr>
          <a:xfrm>
            <a:off x="502920" y="6428232"/>
            <a:ext cx="9601200" cy="274320"/>
          </a:xfrm>
          <a:prstGeom prst="rect">
            <a:avLst/>
          </a:prstGeom>
          <a:noFill/>
        </p:spPr>
        <p:txBody>
          <a:bodyPr wrap="square">
            <a:spAutoFit/>
          </a:bodyPr>
          <a:lstStyle/>
          <a:p>
            <a:pPr algn="l">
              <a:spcAft>
                <a:spcPts val="600"/>
              </a:spcAft>
            </a:pPr>
            <a:r>
              <a:rPr sz="900" b="0" i="0">
                <a:solidFill>
                  <a:srgbClr val="595959"/>
                </a:solidFill>
                <a:latin typeface="Calibri"/>
              </a:rPr>
              <a:t>Semiconductor design-services opportunity  |  Illustrative dataset, not market research</a:t>
            </a:r>
          </a:p>
        </p:txBody>
      </p:sp>
      <p:sp>
        <p:nvSpPr>
          <p:cNvPr id="6" name="TextBox 5"/>
          <p:cNvSpPr txBox="1"/>
          <p:nvPr/>
        </p:nvSpPr>
        <p:spPr>
          <a:xfrm>
            <a:off x="11094415" y="6428232"/>
            <a:ext cx="594360" cy="274320"/>
          </a:xfrm>
          <a:prstGeom prst="rect">
            <a:avLst/>
          </a:prstGeom>
          <a:noFill/>
        </p:spPr>
        <p:txBody>
          <a:bodyPr wrap="square">
            <a:spAutoFit/>
          </a:bodyPr>
          <a:lstStyle/>
          <a:p>
            <a:pPr algn="r">
              <a:spcAft>
                <a:spcPts val="600"/>
              </a:spcAft>
            </a:pPr>
            <a:r>
              <a:rPr sz="900" b="0" i="0">
                <a:solidFill>
                  <a:srgbClr val="595959"/>
                </a:solidFill>
                <a:latin typeface="Calibri"/>
              </a:rPr>
              <a:t>4</a:t>
            </a:r>
          </a:p>
        </p:txBody>
      </p:sp>
      <p:graphicFrame>
        <p:nvGraphicFramePr>
          <p:cNvPr id="7" name="Table 6"/>
          <p:cNvGraphicFramePr>
            <a:graphicFrameLocks noGrp="1"/>
          </p:cNvGraphicFramePr>
          <p:nvPr/>
        </p:nvGraphicFramePr>
        <p:xfrm>
          <a:off x="502920" y="1417320"/>
          <a:ext cx="6766560" cy="2048256"/>
        </p:xfrm>
        <a:graphic>
          <a:graphicData uri="http://schemas.openxmlformats.org/drawingml/2006/table">
            <a:tbl>
              <a:tblPr firstRow="1" bandRow="1">
                <a:tableStyleId>{5C22544A-7EE6-4342-B048-85BDC9FD1C3A}</a:tableStyleId>
              </a:tblPr>
              <a:tblGrid>
                <a:gridCol w="914400"/>
                <a:gridCol w="1463040"/>
                <a:gridCol w="1828800"/>
                <a:gridCol w="1645920"/>
                <a:gridCol w="914400"/>
              </a:tblGrid>
              <a:tr h="292608">
                <a:tc>
                  <a:txBody>
                    <a:bodyPr/>
                    <a:lstStyle/>
                    <a:p>
                      <a:pPr algn="l"/>
                      <a:r>
                        <a:rPr sz="1100" b="1">
                          <a:solidFill>
                            <a:srgbClr val="FFFFFF"/>
                          </a:solidFill>
                          <a:latin typeface="Calibri"/>
                        </a:rPr>
                        <a:t>Year</a:t>
                      </a:r>
                    </a:p>
                  </a:txBody>
                  <a:tcPr>
                    <a:solidFill>
                      <a:srgbClr val="1F3864"/>
                    </a:solidFill>
                  </a:tcPr>
                </a:tc>
                <a:tc>
                  <a:txBody>
                    <a:bodyPr/>
                    <a:lstStyle/>
                    <a:p>
                      <a:pPr algn="ctr"/>
                      <a:r>
                        <a:rPr sz="1100" b="1">
                          <a:solidFill>
                            <a:srgbClr val="FFFFFF"/>
                          </a:solidFill>
                          <a:latin typeface="Calibri"/>
                        </a:rPr>
                        <a:t>TAM USD bn</a:t>
                      </a:r>
                    </a:p>
                  </a:txBody>
                  <a:tcPr>
                    <a:solidFill>
                      <a:srgbClr val="1F3864"/>
                    </a:solidFill>
                  </a:tcPr>
                </a:tc>
                <a:tc>
                  <a:txBody>
                    <a:bodyPr/>
                    <a:lstStyle/>
                    <a:p>
                      <a:pPr algn="ctr"/>
                      <a:r>
                        <a:rPr sz="1100" b="1">
                          <a:solidFill>
                            <a:srgbClr val="FFFFFF"/>
                          </a:solidFill>
                          <a:latin typeface="Calibri"/>
                        </a:rPr>
                        <a:t>Competitive intensity</a:t>
                      </a:r>
                    </a:p>
                  </a:txBody>
                  <a:tcPr>
                    <a:solidFill>
                      <a:srgbClr val="1F3864"/>
                    </a:solidFill>
                  </a:tcPr>
                </a:tc>
                <a:tc>
                  <a:txBody>
                    <a:bodyPr/>
                    <a:lstStyle/>
                    <a:p>
                      <a:pPr algn="ctr"/>
                      <a:r>
                        <a:rPr sz="1100" b="1">
                          <a:solidFill>
                            <a:srgbClr val="FFFFFF"/>
                          </a:solidFill>
                          <a:latin typeface="Calibri"/>
                        </a:rPr>
                        <a:t>Opportunity score</a:t>
                      </a:r>
                    </a:p>
                  </a:txBody>
                  <a:tcPr>
                    <a:solidFill>
                      <a:srgbClr val="1F3864"/>
                    </a:solidFill>
                  </a:tcPr>
                </a:tc>
                <a:tc>
                  <a:txBody>
                    <a:bodyPr/>
                    <a:lstStyle/>
                    <a:p>
                      <a:pPr algn="ctr"/>
                      <a:r>
                        <a:rPr sz="1100" b="1">
                          <a:solidFill>
                            <a:srgbClr val="FFFFFF"/>
                          </a:solidFill>
                          <a:latin typeface="Calibri"/>
                        </a:rPr>
                        <a:t>Rank</a:t>
                      </a:r>
                    </a:p>
                  </a:txBody>
                  <a:tcPr>
                    <a:solidFill>
                      <a:srgbClr val="1F3864"/>
                    </a:solidFill>
                  </a:tcPr>
                </a:tc>
              </a:tr>
              <a:tr h="292608">
                <a:tc>
                  <a:txBody>
                    <a:bodyPr/>
                    <a:lstStyle/>
                    <a:p>
                      <a:pPr algn="l"/>
                      <a:r>
                        <a:rPr sz="1100">
                          <a:solidFill>
                            <a:srgbClr val="595959"/>
                          </a:solidFill>
                          <a:latin typeface="Calibri"/>
                        </a:rPr>
                        <a:t>2025</a:t>
                      </a:r>
                    </a:p>
                  </a:txBody>
                  <a:tcPr>
                    <a:solidFill>
                      <a:srgbClr val="FFFFFF"/>
                    </a:solidFill>
                  </a:tcPr>
                </a:tc>
                <a:tc>
                  <a:txBody>
                    <a:bodyPr/>
                    <a:lstStyle/>
                    <a:p>
                      <a:pPr algn="ctr"/>
                      <a:r>
                        <a:rPr sz="1100">
                          <a:solidFill>
                            <a:srgbClr val="595959"/>
                          </a:solidFill>
                          <a:latin typeface="Calibri"/>
                        </a:rPr>
                        <a:t>33.9</a:t>
                      </a:r>
                    </a:p>
                  </a:txBody>
                  <a:tcPr>
                    <a:solidFill>
                      <a:srgbClr val="FFFFFF"/>
                    </a:solidFill>
                  </a:tcPr>
                </a:tc>
                <a:tc>
                  <a:txBody>
                    <a:bodyPr/>
                    <a:lstStyle/>
                    <a:p>
                      <a:pPr algn="ctr"/>
                      <a:r>
                        <a:rPr sz="1100">
                          <a:solidFill>
                            <a:srgbClr val="595959"/>
                          </a:solidFill>
                          <a:latin typeface="Calibri"/>
                        </a:rPr>
                        <a:t>53</a:t>
                      </a:r>
                    </a:p>
                  </a:txBody>
                  <a:tcPr>
                    <a:solidFill>
                      <a:srgbClr val="FFFFFF"/>
                    </a:solidFill>
                  </a:tcPr>
                </a:tc>
                <a:tc>
                  <a:txBody>
                    <a:bodyPr/>
                    <a:lstStyle/>
                    <a:p>
                      <a:pPr algn="ctr"/>
                      <a:r>
                        <a:rPr sz="1100">
                          <a:solidFill>
                            <a:srgbClr val="595959"/>
                          </a:solidFill>
                          <a:latin typeface="Calibri"/>
                        </a:rPr>
                        <a:t>54.2</a:t>
                      </a:r>
                    </a:p>
                  </a:txBody>
                  <a:tcPr>
                    <a:solidFill>
                      <a:srgbClr val="FFFFFF"/>
                    </a:solidFill>
                  </a:tcPr>
                </a:tc>
                <a:tc>
                  <a:txBody>
                    <a:bodyPr/>
                    <a:lstStyle/>
                    <a:p>
                      <a:pPr algn="ctr"/>
                      <a:r>
                        <a:rPr sz="1100">
                          <a:solidFill>
                            <a:srgbClr val="595959"/>
                          </a:solidFill>
                          <a:latin typeface="Calibri"/>
                        </a:rPr>
                        <a:t>4</a:t>
                      </a:r>
                    </a:p>
                  </a:txBody>
                  <a:tcPr>
                    <a:solidFill>
                      <a:srgbClr val="FFFFFF"/>
                    </a:solidFill>
                  </a:tcPr>
                </a:tc>
              </a:tr>
              <a:tr h="292608">
                <a:tc>
                  <a:txBody>
                    <a:bodyPr/>
                    <a:lstStyle/>
                    <a:p>
                      <a:pPr algn="l"/>
                      <a:r>
                        <a:rPr sz="1100">
                          <a:solidFill>
                            <a:srgbClr val="595959"/>
                          </a:solidFill>
                          <a:latin typeface="Calibri"/>
                        </a:rPr>
                        <a:t>2026</a:t>
                      </a:r>
                    </a:p>
                  </a:txBody>
                  <a:tcPr>
                    <a:solidFill>
                      <a:srgbClr val="F4F6F9"/>
                    </a:solidFill>
                  </a:tcPr>
                </a:tc>
                <a:tc>
                  <a:txBody>
                    <a:bodyPr/>
                    <a:lstStyle/>
                    <a:p>
                      <a:pPr algn="ctr"/>
                      <a:r>
                        <a:rPr sz="1100">
                          <a:solidFill>
                            <a:srgbClr val="595959"/>
                          </a:solidFill>
                          <a:latin typeface="Calibri"/>
                        </a:rPr>
                        <a:t>39.4</a:t>
                      </a:r>
                    </a:p>
                  </a:txBody>
                  <a:tcPr>
                    <a:solidFill>
                      <a:srgbClr val="F4F6F9"/>
                    </a:solidFill>
                  </a:tcPr>
                </a:tc>
                <a:tc>
                  <a:txBody>
                    <a:bodyPr/>
                    <a:lstStyle/>
                    <a:p>
                      <a:pPr algn="ctr"/>
                      <a:r>
                        <a:rPr sz="1100">
                          <a:solidFill>
                            <a:srgbClr val="595959"/>
                          </a:solidFill>
                          <a:latin typeface="Calibri"/>
                        </a:rPr>
                        <a:t>53</a:t>
                      </a:r>
                    </a:p>
                  </a:txBody>
                  <a:tcPr>
                    <a:solidFill>
                      <a:srgbClr val="F4F6F9"/>
                    </a:solidFill>
                  </a:tcPr>
                </a:tc>
                <a:tc>
                  <a:txBody>
                    <a:bodyPr/>
                    <a:lstStyle/>
                    <a:p>
                      <a:pPr algn="ctr"/>
                      <a:r>
                        <a:rPr sz="1100">
                          <a:solidFill>
                            <a:srgbClr val="595959"/>
                          </a:solidFill>
                          <a:latin typeface="Calibri"/>
                        </a:rPr>
                        <a:t>55.7</a:t>
                      </a:r>
                    </a:p>
                  </a:txBody>
                  <a:tcPr>
                    <a:solidFill>
                      <a:srgbClr val="F4F6F9"/>
                    </a:solidFill>
                  </a:tcPr>
                </a:tc>
                <a:tc>
                  <a:txBody>
                    <a:bodyPr/>
                    <a:lstStyle/>
                    <a:p>
                      <a:pPr algn="ctr"/>
                      <a:r>
                        <a:rPr sz="1100">
                          <a:solidFill>
                            <a:srgbClr val="595959"/>
                          </a:solidFill>
                          <a:latin typeface="Calibri"/>
                        </a:rPr>
                        <a:t>4</a:t>
                      </a:r>
                    </a:p>
                  </a:txBody>
                  <a:tcPr>
                    <a:solidFill>
                      <a:srgbClr val="F4F6F9"/>
                    </a:solidFill>
                  </a:tcPr>
                </a:tc>
              </a:tr>
              <a:tr h="292608">
                <a:tc>
                  <a:txBody>
                    <a:bodyPr/>
                    <a:lstStyle/>
                    <a:p>
                      <a:pPr algn="l"/>
                      <a:r>
                        <a:rPr sz="1100">
                          <a:solidFill>
                            <a:srgbClr val="595959"/>
                          </a:solidFill>
                          <a:latin typeface="Calibri"/>
                        </a:rPr>
                        <a:t>2027</a:t>
                      </a:r>
                    </a:p>
                  </a:txBody>
                  <a:tcPr>
                    <a:solidFill>
                      <a:srgbClr val="FFFFFF"/>
                    </a:solidFill>
                  </a:tcPr>
                </a:tc>
                <a:tc>
                  <a:txBody>
                    <a:bodyPr/>
                    <a:lstStyle/>
                    <a:p>
                      <a:pPr algn="ctr"/>
                      <a:r>
                        <a:rPr sz="1100">
                          <a:solidFill>
                            <a:srgbClr val="595959"/>
                          </a:solidFill>
                          <a:latin typeface="Calibri"/>
                        </a:rPr>
                        <a:t>44.4</a:t>
                      </a:r>
                    </a:p>
                  </a:txBody>
                  <a:tcPr>
                    <a:solidFill>
                      <a:srgbClr val="FFFFFF"/>
                    </a:solidFill>
                  </a:tcPr>
                </a:tc>
                <a:tc>
                  <a:txBody>
                    <a:bodyPr/>
                    <a:lstStyle/>
                    <a:p>
                      <a:pPr algn="ctr"/>
                      <a:r>
                        <a:rPr sz="1100">
                          <a:solidFill>
                            <a:srgbClr val="595959"/>
                          </a:solidFill>
                          <a:latin typeface="Calibri"/>
                        </a:rPr>
                        <a:t>55</a:t>
                      </a:r>
                    </a:p>
                  </a:txBody>
                  <a:tcPr>
                    <a:solidFill>
                      <a:srgbClr val="FFFFFF"/>
                    </a:solidFill>
                  </a:tcPr>
                </a:tc>
                <a:tc>
                  <a:txBody>
                    <a:bodyPr/>
                    <a:lstStyle/>
                    <a:p>
                      <a:pPr algn="ctr"/>
                      <a:r>
                        <a:rPr sz="1100">
                          <a:solidFill>
                            <a:srgbClr val="595959"/>
                          </a:solidFill>
                          <a:latin typeface="Calibri"/>
                        </a:rPr>
                        <a:t>55.9</a:t>
                      </a:r>
                    </a:p>
                  </a:txBody>
                  <a:tcPr>
                    <a:solidFill>
                      <a:srgbClr val="FFFFFF"/>
                    </a:solidFill>
                  </a:tcPr>
                </a:tc>
                <a:tc>
                  <a:txBody>
                    <a:bodyPr/>
                    <a:lstStyle/>
                    <a:p>
                      <a:pPr algn="ctr"/>
                      <a:r>
                        <a:rPr sz="1100">
                          <a:solidFill>
                            <a:srgbClr val="595959"/>
                          </a:solidFill>
                          <a:latin typeface="Calibri"/>
                        </a:rPr>
                        <a:t>4</a:t>
                      </a:r>
                    </a:p>
                  </a:txBody>
                  <a:tcPr>
                    <a:solidFill>
                      <a:srgbClr val="FFFFFF"/>
                    </a:solidFill>
                  </a:tcPr>
                </a:tc>
              </a:tr>
              <a:tr h="292608">
                <a:tc>
                  <a:txBody>
                    <a:bodyPr/>
                    <a:lstStyle/>
                    <a:p>
                      <a:pPr algn="l"/>
                      <a:r>
                        <a:rPr sz="1100">
                          <a:solidFill>
                            <a:srgbClr val="595959"/>
                          </a:solidFill>
                          <a:latin typeface="Calibri"/>
                        </a:rPr>
                        <a:t>2028</a:t>
                      </a:r>
                    </a:p>
                  </a:txBody>
                  <a:tcPr>
                    <a:solidFill>
                      <a:srgbClr val="F4F6F9"/>
                    </a:solidFill>
                  </a:tcPr>
                </a:tc>
                <a:tc>
                  <a:txBody>
                    <a:bodyPr/>
                    <a:lstStyle/>
                    <a:p>
                      <a:pPr algn="ctr"/>
                      <a:r>
                        <a:rPr sz="1100">
                          <a:solidFill>
                            <a:srgbClr val="595959"/>
                          </a:solidFill>
                          <a:latin typeface="Calibri"/>
                        </a:rPr>
                        <a:t>52.7</a:t>
                      </a:r>
                    </a:p>
                  </a:txBody>
                  <a:tcPr>
                    <a:solidFill>
                      <a:srgbClr val="F4F6F9"/>
                    </a:solidFill>
                  </a:tcPr>
                </a:tc>
                <a:tc>
                  <a:txBody>
                    <a:bodyPr/>
                    <a:lstStyle/>
                    <a:p>
                      <a:pPr algn="ctr"/>
                      <a:r>
                        <a:rPr sz="1100">
                          <a:solidFill>
                            <a:srgbClr val="595959"/>
                          </a:solidFill>
                          <a:latin typeface="Calibri"/>
                        </a:rPr>
                        <a:t>71</a:t>
                      </a:r>
                    </a:p>
                  </a:txBody>
                  <a:tcPr>
                    <a:solidFill>
                      <a:srgbClr val="F4F6F9"/>
                    </a:solidFill>
                  </a:tcPr>
                </a:tc>
                <a:tc>
                  <a:txBody>
                    <a:bodyPr/>
                    <a:lstStyle/>
                    <a:p>
                      <a:pPr algn="ctr"/>
                      <a:r>
                        <a:rPr sz="1100">
                          <a:solidFill>
                            <a:srgbClr val="595959"/>
                          </a:solidFill>
                          <a:latin typeface="Calibri"/>
                        </a:rPr>
                        <a:t>49.7</a:t>
                      </a:r>
                    </a:p>
                  </a:txBody>
                  <a:tcPr>
                    <a:solidFill>
                      <a:srgbClr val="F4F6F9"/>
                    </a:solidFill>
                  </a:tcPr>
                </a:tc>
                <a:tc>
                  <a:txBody>
                    <a:bodyPr/>
                    <a:lstStyle/>
                    <a:p>
                      <a:pPr algn="ctr"/>
                      <a:r>
                        <a:rPr sz="1100">
                          <a:solidFill>
                            <a:srgbClr val="595959"/>
                          </a:solidFill>
                          <a:latin typeface="Calibri"/>
                        </a:rPr>
                        <a:t>5</a:t>
                      </a:r>
                    </a:p>
                  </a:txBody>
                  <a:tcPr>
                    <a:solidFill>
                      <a:srgbClr val="F4F6F9"/>
                    </a:solidFill>
                  </a:tcPr>
                </a:tc>
              </a:tr>
              <a:tr h="292608">
                <a:tc>
                  <a:txBody>
                    <a:bodyPr/>
                    <a:lstStyle/>
                    <a:p>
                      <a:pPr algn="l"/>
                      <a:r>
                        <a:rPr sz="1100">
                          <a:solidFill>
                            <a:srgbClr val="595959"/>
                          </a:solidFill>
                          <a:latin typeface="Calibri"/>
                        </a:rPr>
                        <a:t>2029</a:t>
                      </a:r>
                    </a:p>
                  </a:txBody>
                  <a:tcPr>
                    <a:solidFill>
                      <a:srgbClr val="FFFFFF"/>
                    </a:solidFill>
                  </a:tcPr>
                </a:tc>
                <a:tc>
                  <a:txBody>
                    <a:bodyPr/>
                    <a:lstStyle/>
                    <a:p>
                      <a:pPr algn="ctr"/>
                      <a:r>
                        <a:rPr sz="1100">
                          <a:solidFill>
                            <a:srgbClr val="595959"/>
                          </a:solidFill>
                          <a:latin typeface="Calibri"/>
                        </a:rPr>
                        <a:t>61.0</a:t>
                      </a:r>
                    </a:p>
                  </a:txBody>
                  <a:tcPr>
                    <a:solidFill>
                      <a:srgbClr val="FFFFFF"/>
                    </a:solidFill>
                  </a:tcPr>
                </a:tc>
                <a:tc>
                  <a:txBody>
                    <a:bodyPr/>
                    <a:lstStyle/>
                    <a:p>
                      <a:pPr algn="ctr"/>
                      <a:r>
                        <a:rPr sz="1100">
                          <a:solidFill>
                            <a:srgbClr val="595959"/>
                          </a:solidFill>
                          <a:latin typeface="Calibri"/>
                        </a:rPr>
                        <a:t>83</a:t>
                      </a:r>
                    </a:p>
                  </a:txBody>
                  <a:tcPr>
                    <a:solidFill>
                      <a:srgbClr val="FFFFFF"/>
                    </a:solidFill>
                  </a:tcPr>
                </a:tc>
                <a:tc>
                  <a:txBody>
                    <a:bodyPr/>
                    <a:lstStyle/>
                    <a:p>
                      <a:pPr algn="ctr"/>
                      <a:r>
                        <a:rPr sz="1100">
                          <a:solidFill>
                            <a:srgbClr val="595959"/>
                          </a:solidFill>
                          <a:latin typeface="Calibri"/>
                        </a:rPr>
                        <a:t>42.9</a:t>
                      </a:r>
                    </a:p>
                  </a:txBody>
                  <a:tcPr>
                    <a:solidFill>
                      <a:srgbClr val="FFFFFF"/>
                    </a:solidFill>
                  </a:tcPr>
                </a:tc>
                <a:tc>
                  <a:txBody>
                    <a:bodyPr/>
                    <a:lstStyle/>
                    <a:p>
                      <a:pPr algn="ctr"/>
                      <a:r>
                        <a:rPr sz="1100">
                          <a:solidFill>
                            <a:srgbClr val="595959"/>
                          </a:solidFill>
                          <a:latin typeface="Calibri"/>
                        </a:rPr>
                        <a:t>5</a:t>
                      </a:r>
                    </a:p>
                  </a:txBody>
                  <a:tcPr>
                    <a:solidFill>
                      <a:srgbClr val="FFFFFF"/>
                    </a:solidFill>
                  </a:tcPr>
                </a:tc>
              </a:tr>
              <a:tr h="292608">
                <a:tc>
                  <a:txBody>
                    <a:bodyPr/>
                    <a:lstStyle/>
                    <a:p>
                      <a:pPr algn="l"/>
                      <a:r>
                        <a:rPr sz="1100">
                          <a:solidFill>
                            <a:srgbClr val="595959"/>
                          </a:solidFill>
                          <a:latin typeface="Calibri"/>
                        </a:rPr>
                        <a:t>2030</a:t>
                      </a:r>
                    </a:p>
                  </a:txBody>
                  <a:tcPr>
                    <a:solidFill>
                      <a:srgbClr val="F4F6F9"/>
                    </a:solidFill>
                  </a:tcPr>
                </a:tc>
                <a:tc>
                  <a:txBody>
                    <a:bodyPr/>
                    <a:lstStyle/>
                    <a:p>
                      <a:pPr algn="ctr"/>
                      <a:r>
                        <a:rPr sz="1100">
                          <a:solidFill>
                            <a:srgbClr val="595959"/>
                          </a:solidFill>
                          <a:latin typeface="Calibri"/>
                        </a:rPr>
                        <a:t>69.4</a:t>
                      </a:r>
                    </a:p>
                  </a:txBody>
                  <a:tcPr>
                    <a:solidFill>
                      <a:srgbClr val="F4F6F9"/>
                    </a:solidFill>
                  </a:tcPr>
                </a:tc>
                <a:tc>
                  <a:txBody>
                    <a:bodyPr/>
                    <a:lstStyle/>
                    <a:p>
                      <a:pPr algn="ctr"/>
                      <a:r>
                        <a:rPr sz="1100">
                          <a:solidFill>
                            <a:srgbClr val="595959"/>
                          </a:solidFill>
                          <a:latin typeface="Calibri"/>
                        </a:rPr>
                        <a:t>94</a:t>
                      </a:r>
                    </a:p>
                  </a:txBody>
                  <a:tcPr>
                    <a:solidFill>
                      <a:srgbClr val="F4F6F9"/>
                    </a:solidFill>
                  </a:tcPr>
                </a:tc>
                <a:tc>
                  <a:txBody>
                    <a:bodyPr/>
                    <a:lstStyle/>
                    <a:p>
                      <a:pPr algn="ctr"/>
                      <a:r>
                        <a:rPr sz="1100">
                          <a:solidFill>
                            <a:srgbClr val="595959"/>
                          </a:solidFill>
                          <a:latin typeface="Calibri"/>
                        </a:rPr>
                        <a:t>40.0</a:t>
                      </a:r>
                    </a:p>
                  </a:txBody>
                  <a:tcPr>
                    <a:solidFill>
                      <a:srgbClr val="F4F6F9"/>
                    </a:solidFill>
                  </a:tcPr>
                </a:tc>
                <a:tc>
                  <a:txBody>
                    <a:bodyPr/>
                    <a:lstStyle/>
                    <a:p>
                      <a:pPr algn="ctr"/>
                      <a:r>
                        <a:rPr sz="1100">
                          <a:solidFill>
                            <a:srgbClr val="595959"/>
                          </a:solidFill>
                          <a:latin typeface="Calibri"/>
                        </a:rPr>
                        <a:t>5</a:t>
                      </a:r>
                    </a:p>
                  </a:txBody>
                  <a:tcPr>
                    <a:solidFill>
                      <a:srgbClr val="F4F6F9"/>
                    </a:solidFill>
                  </a:tcPr>
                </a:tc>
              </a:tr>
            </a:tbl>
          </a:graphicData>
        </a:graphic>
      </p:graphicFrame>
      <p:sp>
        <p:nvSpPr>
          <p:cNvPr id="8" name="TextBox 7"/>
          <p:cNvSpPr txBox="1"/>
          <p:nvPr/>
        </p:nvSpPr>
        <p:spPr>
          <a:xfrm>
            <a:off x="7543800" y="1417320"/>
            <a:ext cx="4114800" cy="3291840"/>
          </a:xfrm>
          <a:prstGeom prst="rect">
            <a:avLst/>
          </a:prstGeom>
          <a:noFill/>
        </p:spPr>
        <p:txBody>
          <a:bodyPr wrap="square">
            <a:spAutoFit/>
          </a:bodyPr>
          <a:lstStyle/>
          <a:p>
            <a:pPr>
              <a:spcAft>
                <a:spcPts val="1000"/>
              </a:spcAft>
            </a:pPr>
            <a:r>
              <a:rPr sz="1300" b="1">
                <a:solidFill>
                  <a:srgbClr val="1F3864"/>
                </a:solidFill>
                <a:latin typeface="Calibri"/>
              </a:rPr>
              <a:t>What happens.  </a:t>
            </a:r>
            <a:r>
              <a:rPr sz="1300">
                <a:solidFill>
                  <a:srgbClr val="595959"/>
                </a:solidFill>
                <a:latin typeface="Calibri"/>
              </a:rPr>
              <a:t>TAM rises 56% between 2027 and 2030 while the opportunity score falls 16 points and the segment drops a place.</a:t>
            </a:r>
          </a:p>
          <a:p>
            <a:pPr>
              <a:spcAft>
                <a:spcPts val="1000"/>
              </a:spcAft>
            </a:pPr>
            <a:r>
              <a:rPr sz="1300" b="1">
                <a:solidFill>
                  <a:srgbClr val="1F3864"/>
                </a:solidFill>
                <a:latin typeface="Calibri"/>
              </a:rPr>
              <a:t>Why.  </a:t>
            </a:r>
            <a:r>
              <a:rPr sz="1300">
                <a:solidFill>
                  <a:srgbClr val="595959"/>
                </a:solidFill>
                <a:latin typeface="Calibri"/>
              </a:rPr>
              <a:t>Competitive intensity climbs 39 points over the same stretch as announced SiC capacity converts to supply. The market grows and the margin pool is competed away inside it.</a:t>
            </a:r>
          </a:p>
          <a:p>
            <a:pPr>
              <a:spcAft>
                <a:spcPts val="1000"/>
              </a:spcAft>
            </a:pPr>
            <a:r>
              <a:rPr sz="1300" b="1">
                <a:solidFill>
                  <a:srgbClr val="1F3864"/>
                </a:solidFill>
                <a:latin typeface="Calibri"/>
              </a:rPr>
              <a:t>So what.  </a:t>
            </a:r>
            <a:r>
              <a:rPr sz="1300">
                <a:solidFill>
                  <a:srgbClr val="595959"/>
                </a:solidFill>
                <a:latin typeface="Calibri"/>
              </a:rPr>
              <a:t>A framework ranked on market size commits capacity here in exactly the years the returns disappear. Hold the current position; do not build against it.</a:t>
            </a:r>
          </a:p>
        </p:txBody>
      </p:sp>
      <p:sp>
        <p:nvSpPr>
          <p:cNvPr id="9" name="Rectangle 8"/>
          <p:cNvSpPr/>
          <p:nvPr/>
        </p:nvSpPr>
        <p:spPr>
          <a:xfrm>
            <a:off x="502920" y="4937760"/>
            <a:ext cx="11185855" cy="1234440"/>
          </a:xfrm>
          <a:prstGeom prst="rect">
            <a:avLst/>
          </a:prstGeom>
          <a:solidFill>
            <a:srgbClr val="FBF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4937760"/>
            <a:ext cx="28000" cy="1234440"/>
          </a:xfrm>
          <a:prstGeom prst="rect">
            <a:avLst/>
          </a:prstGeom>
          <a:solidFill>
            <a:srgbClr val="B07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047488"/>
            <a:ext cx="10820095" cy="1005840"/>
          </a:xfrm>
          <a:prstGeom prst="rect">
            <a:avLst/>
          </a:prstGeom>
          <a:noFill/>
        </p:spPr>
        <p:txBody>
          <a:bodyPr wrap="square">
            <a:spAutoFit/>
          </a:bodyPr>
          <a:lstStyle/>
          <a:p>
            <a:pPr algn="l">
              <a:spcAft>
                <a:spcPts val="600"/>
              </a:spcAft>
            </a:pPr>
            <a:r>
              <a:rPr sz="1200" b="0" i="0">
                <a:solidFill>
                  <a:srgbClr val="595959"/>
                </a:solidFill>
                <a:latin typeface="Calibri"/>
              </a:rPr>
              <a:t>This is the one segment in the set where the TAM chart and the opportunity chart point in opposite directions, and it is the reason the framework scores competitive intensity rather than assuming a growing market stays an attractive one. Six other segments also lose a little score by 2030; they lose it because the leaders pull away, not because anyone is crowding them. Power electronics is the only one with a structural change in who we would be bidding against.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777240"/>
          </a:xfrm>
          <a:prstGeom prst="rect">
            <a:avLst/>
          </a:prstGeom>
          <a:noFill/>
        </p:spPr>
        <p:txBody>
          <a:bodyPr wrap="square">
            <a:spAutoFit/>
          </a:bodyPr>
          <a:lstStyle/>
          <a:p>
            <a:pPr algn="l">
              <a:spcAft>
                <a:spcPts val="600"/>
              </a:spcAft>
            </a:pPr>
            <a:r>
              <a:rPr sz="2700" b="1" i="0">
                <a:solidFill>
                  <a:srgbClr val="1F3864"/>
                </a:solidFill>
                <a:latin typeface="Calibri"/>
              </a:rPr>
              <a:t>Memory and RF hold their places under every weighting; everything above them reorders</a:t>
            </a:r>
          </a:p>
        </p:txBody>
      </p:sp>
      <p:sp>
        <p:nvSpPr>
          <p:cNvPr id="3" name="Rectangle 2"/>
          <p:cNvSpPr/>
          <p:nvPr/>
        </p:nvSpPr>
        <p:spPr>
          <a:xfrm>
            <a:off x="502920" y="1225296"/>
            <a:ext cx="11185855" cy="14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11185855" cy="274320"/>
          </a:xfrm>
          <a:prstGeom prst="rect">
            <a:avLst/>
          </a:prstGeom>
          <a:noFill/>
        </p:spPr>
        <p:txBody>
          <a:bodyPr wrap="square">
            <a:spAutoFit/>
          </a:bodyPr>
          <a:lstStyle/>
          <a:p>
            <a:pPr algn="l">
              <a:spcAft>
                <a:spcPts val="600"/>
              </a:spcAft>
            </a:pPr>
            <a:r>
              <a:rPr sz="1100" b="0" i="1">
                <a:solidFill>
                  <a:srgbClr val="595959"/>
                </a:solidFill>
                <a:latin typeface="Calibri"/>
              </a:rPr>
              <a:t>Segment ranking | forward mean score 2026-2030, stress-tested under three alternative weightings</a:t>
            </a:r>
          </a:p>
        </p:txBody>
      </p:sp>
      <p:sp>
        <p:nvSpPr>
          <p:cNvPr id="5" name="TextBox 4"/>
          <p:cNvSpPr txBox="1"/>
          <p:nvPr/>
        </p:nvSpPr>
        <p:spPr>
          <a:xfrm>
            <a:off x="502920" y="6428232"/>
            <a:ext cx="9601200" cy="274320"/>
          </a:xfrm>
          <a:prstGeom prst="rect">
            <a:avLst/>
          </a:prstGeom>
          <a:noFill/>
        </p:spPr>
        <p:txBody>
          <a:bodyPr wrap="square">
            <a:spAutoFit/>
          </a:bodyPr>
          <a:lstStyle/>
          <a:p>
            <a:pPr algn="l">
              <a:spcAft>
                <a:spcPts val="600"/>
              </a:spcAft>
            </a:pPr>
            <a:r>
              <a:rPr sz="900" b="0" i="0">
                <a:solidFill>
                  <a:srgbClr val="595959"/>
                </a:solidFill>
                <a:latin typeface="Calibri"/>
              </a:rPr>
              <a:t>Semiconductor design-services opportunity  |  Illustrative dataset, not market research</a:t>
            </a:r>
          </a:p>
        </p:txBody>
      </p:sp>
      <p:sp>
        <p:nvSpPr>
          <p:cNvPr id="6" name="TextBox 5"/>
          <p:cNvSpPr txBox="1"/>
          <p:nvPr/>
        </p:nvSpPr>
        <p:spPr>
          <a:xfrm>
            <a:off x="11094415" y="6428232"/>
            <a:ext cx="594360" cy="274320"/>
          </a:xfrm>
          <a:prstGeom prst="rect">
            <a:avLst/>
          </a:prstGeom>
          <a:noFill/>
        </p:spPr>
        <p:txBody>
          <a:bodyPr wrap="square">
            <a:spAutoFit/>
          </a:bodyPr>
          <a:lstStyle/>
          <a:p>
            <a:pPr algn="r">
              <a:spcAft>
                <a:spcPts val="600"/>
              </a:spcAft>
            </a:pPr>
            <a:r>
              <a:rPr sz="900" b="0" i="0">
                <a:solidFill>
                  <a:srgbClr val="595959"/>
                </a:solidFill>
                <a:latin typeface="Calibri"/>
              </a:rPr>
              <a:t>5</a:t>
            </a:r>
          </a:p>
        </p:txBody>
      </p:sp>
      <p:graphicFrame>
        <p:nvGraphicFramePr>
          <p:cNvPr id="7" name="Table 6"/>
          <p:cNvGraphicFramePr>
            <a:graphicFrameLocks noGrp="1"/>
          </p:cNvGraphicFramePr>
          <p:nvPr/>
        </p:nvGraphicFramePr>
        <p:xfrm>
          <a:off x="502920" y="1417320"/>
          <a:ext cx="11185852" cy="2633472"/>
        </p:xfrm>
        <a:graphic>
          <a:graphicData uri="http://schemas.openxmlformats.org/drawingml/2006/table">
            <a:tbl>
              <a:tblPr firstRow="1" bandRow="1">
                <a:tableStyleId>{5C22544A-7EE6-4342-B048-85BDC9FD1C3A}</a:tableStyleId>
              </a:tblPr>
              <a:tblGrid>
                <a:gridCol w="360834"/>
                <a:gridCol w="2706255"/>
                <a:gridCol w="992293"/>
                <a:gridCol w="1172710"/>
                <a:gridCol w="2706255"/>
                <a:gridCol w="1894378"/>
                <a:gridCol w="1353127"/>
              </a:tblGrid>
              <a:tr h="292608">
                <a:tc>
                  <a:txBody>
                    <a:bodyPr/>
                    <a:lstStyle/>
                    <a:p>
                      <a:pPr algn="l"/>
                      <a:r>
                        <a:rPr sz="1100" b="1">
                          <a:solidFill>
                            <a:srgbClr val="FFFFFF"/>
                          </a:solidFill>
                          <a:latin typeface="Calibri"/>
                        </a:rPr>
                        <a:t>#</a:t>
                      </a:r>
                    </a:p>
                  </a:txBody>
                  <a:tcPr>
                    <a:solidFill>
                      <a:srgbClr val="1F3864"/>
                    </a:solidFill>
                  </a:tcPr>
                </a:tc>
                <a:tc>
                  <a:txBody>
                    <a:bodyPr/>
                    <a:lstStyle/>
                    <a:p>
                      <a:pPr algn="ctr"/>
                      <a:r>
                        <a:rPr sz="1100" b="1">
                          <a:solidFill>
                            <a:srgbClr val="FFFFFF"/>
                          </a:solidFill>
                          <a:latin typeface="Calibri"/>
                        </a:rPr>
                        <a:t>Segment</a:t>
                      </a:r>
                    </a:p>
                  </a:txBody>
                  <a:tcPr>
                    <a:solidFill>
                      <a:srgbClr val="1F3864"/>
                    </a:solidFill>
                  </a:tcPr>
                </a:tc>
                <a:tc>
                  <a:txBody>
                    <a:bodyPr/>
                    <a:lstStyle/>
                    <a:p>
                      <a:pPr algn="ctr"/>
                      <a:r>
                        <a:rPr sz="1100" b="1">
                          <a:solidFill>
                            <a:srgbClr val="FFFFFF"/>
                          </a:solidFill>
                          <a:latin typeface="Calibri"/>
                        </a:rPr>
                        <a:t>Forward score</a:t>
                      </a:r>
                    </a:p>
                  </a:txBody>
                  <a:tcPr>
                    <a:solidFill>
                      <a:srgbClr val="1F3864"/>
                    </a:solidFill>
                  </a:tcPr>
                </a:tc>
                <a:tc>
                  <a:txBody>
                    <a:bodyPr/>
                    <a:lstStyle/>
                    <a:p>
                      <a:pPr algn="ctr"/>
                      <a:r>
                        <a:rPr sz="1100" b="1">
                          <a:solidFill>
                            <a:srgbClr val="FFFFFF"/>
                          </a:solidFill>
                          <a:latin typeface="Calibri"/>
                        </a:rPr>
                        <a:t>Call</a:t>
                      </a:r>
                    </a:p>
                  </a:txBody>
                  <a:tcPr>
                    <a:solidFill>
                      <a:srgbClr val="1F3864"/>
                    </a:solidFill>
                  </a:tcPr>
                </a:tc>
                <a:tc>
                  <a:txBody>
                    <a:bodyPr/>
                    <a:lstStyle/>
                    <a:p>
                      <a:pPr algn="ctr"/>
                      <a:r>
                        <a:rPr sz="1100" b="1">
                          <a:solidFill>
                            <a:srgbClr val="FFFFFF"/>
                          </a:solidFill>
                          <a:latin typeface="Calibri"/>
                        </a:rPr>
                        <a:t>Rank in 2030: base / growth / feasibility / fit</a:t>
                      </a:r>
                    </a:p>
                  </a:txBody>
                  <a:tcPr>
                    <a:solidFill>
                      <a:srgbClr val="1F3864"/>
                    </a:solidFill>
                  </a:tcPr>
                </a:tc>
                <a:tc>
                  <a:txBody>
                    <a:bodyPr/>
                    <a:lstStyle/>
                    <a:p>
                      <a:pPr algn="ctr"/>
                      <a:r>
                        <a:rPr sz="1100" b="1">
                          <a:solidFill>
                            <a:srgbClr val="FFFFFF"/>
                          </a:solidFill>
                          <a:latin typeface="Calibri"/>
                        </a:rPr>
                        <a:t>Rank range, all profiles 2026-2030</a:t>
                      </a:r>
                    </a:p>
                  </a:txBody>
                  <a:tcPr>
                    <a:solidFill>
                      <a:srgbClr val="1F3864"/>
                    </a:solidFill>
                  </a:tcPr>
                </a:tc>
                <a:tc>
                  <a:txBody>
                    <a:bodyPr/>
                    <a:lstStyle/>
                    <a:p>
                      <a:pPr algn="ctr"/>
                      <a:r>
                        <a:rPr sz="1100" b="1">
                          <a:solidFill>
                            <a:srgbClr val="FFFFFF"/>
                          </a:solidFill>
                          <a:latin typeface="Calibri"/>
                        </a:rPr>
                        <a:t>Stability</a:t>
                      </a:r>
                    </a:p>
                  </a:txBody>
                  <a:tcPr>
                    <a:solidFill>
                      <a:srgbClr val="1F3864"/>
                    </a:solidFill>
                  </a:tcPr>
                </a:tc>
              </a:tr>
              <a:tr h="292608">
                <a:tc>
                  <a:txBody>
                    <a:bodyPr/>
                    <a:lstStyle/>
                    <a:p>
                      <a:pPr algn="l"/>
                      <a:r>
                        <a:rPr sz="1100">
                          <a:solidFill>
                            <a:srgbClr val="595959"/>
                          </a:solidFill>
                          <a:latin typeface="Calibri"/>
                        </a:rPr>
                        <a:t>1</a:t>
                      </a:r>
                    </a:p>
                  </a:txBody>
                  <a:tcPr>
                    <a:solidFill>
                      <a:srgbClr val="FFFFFF"/>
                    </a:solidFill>
                  </a:tcPr>
                </a:tc>
                <a:tc>
                  <a:txBody>
                    <a:bodyPr/>
                    <a:lstStyle/>
                    <a:p>
                      <a:pPr algn="ctr"/>
                      <a:r>
                        <a:rPr sz="1100">
                          <a:solidFill>
                            <a:srgbClr val="595959"/>
                          </a:solidFill>
                          <a:latin typeface="Calibri"/>
                        </a:rPr>
                        <a:t>Automotive &amp; ADAS silicon</a:t>
                      </a:r>
                    </a:p>
                  </a:txBody>
                  <a:tcPr>
                    <a:solidFill>
                      <a:srgbClr val="FFFFFF"/>
                    </a:solidFill>
                  </a:tcPr>
                </a:tc>
                <a:tc>
                  <a:txBody>
                    <a:bodyPr/>
                    <a:lstStyle/>
                    <a:p>
                      <a:pPr algn="ctr"/>
                      <a:r>
                        <a:rPr sz="1100">
                          <a:solidFill>
                            <a:srgbClr val="595959"/>
                          </a:solidFill>
                          <a:latin typeface="Calibri"/>
                        </a:rPr>
                        <a:t>68.1</a:t>
                      </a:r>
                    </a:p>
                  </a:txBody>
                  <a:tcPr>
                    <a:solidFill>
                      <a:srgbClr val="FFFFFF"/>
                    </a:solidFill>
                  </a:tcPr>
                </a:tc>
                <a:tc>
                  <a:txBody>
                    <a:bodyPr/>
                    <a:lstStyle/>
                    <a:p>
                      <a:pPr algn="ctr"/>
                      <a:r>
                        <a:rPr sz="1100" b="1">
                          <a:solidFill>
                            <a:srgbClr val="1B6B45"/>
                          </a:solidFill>
                          <a:latin typeface="Calibri"/>
                        </a:rPr>
                        <a:t>Prioritize</a:t>
                      </a:r>
                    </a:p>
                  </a:txBody>
                  <a:tcPr>
                    <a:solidFill>
                      <a:srgbClr val="FFFFFF"/>
                    </a:solidFill>
                  </a:tcPr>
                </a:tc>
                <a:tc>
                  <a:txBody>
                    <a:bodyPr/>
                    <a:lstStyle/>
                    <a:p>
                      <a:pPr algn="ctr"/>
                      <a:r>
                        <a:rPr sz="1100">
                          <a:solidFill>
                            <a:srgbClr val="595959"/>
                          </a:solidFill>
                          <a:latin typeface="Calibri"/>
                        </a:rPr>
                        <a:t>1 / 3 / 2 / 1</a:t>
                      </a:r>
                    </a:p>
                  </a:txBody>
                  <a:tcPr>
                    <a:solidFill>
                      <a:srgbClr val="FFFFFF"/>
                    </a:solidFill>
                  </a:tcPr>
                </a:tc>
                <a:tc>
                  <a:txBody>
                    <a:bodyPr/>
                    <a:lstStyle/>
                    <a:p>
                      <a:pPr algn="ctr"/>
                      <a:r>
                        <a:rPr sz="1100">
                          <a:solidFill>
                            <a:srgbClr val="595959"/>
                          </a:solidFill>
                          <a:latin typeface="Calibri"/>
                        </a:rPr>
                        <a:t>1 to 3</a:t>
                      </a:r>
                    </a:p>
                  </a:txBody>
                  <a:tcPr>
                    <a:solidFill>
                      <a:srgbClr val="FFFFFF"/>
                    </a:solidFill>
                  </a:tcPr>
                </a:tc>
                <a:tc>
                  <a:txBody>
                    <a:bodyPr/>
                    <a:lstStyle/>
                    <a:p>
                      <a:pPr algn="ctr"/>
                      <a:r>
                        <a:rPr sz="1100">
                          <a:solidFill>
                            <a:srgbClr val="595959"/>
                          </a:solidFill>
                          <a:latin typeface="Calibri"/>
                        </a:rPr>
                        <a:t>Weight-sensitive</a:t>
                      </a:r>
                    </a:p>
                  </a:txBody>
                  <a:tcPr>
                    <a:solidFill>
                      <a:srgbClr val="FFFFFF"/>
                    </a:solidFill>
                  </a:tcPr>
                </a:tc>
              </a:tr>
              <a:tr h="292608">
                <a:tc>
                  <a:txBody>
                    <a:bodyPr/>
                    <a:lstStyle/>
                    <a:p>
                      <a:pPr algn="l"/>
                      <a:r>
                        <a:rPr sz="1100">
                          <a:solidFill>
                            <a:srgbClr val="595959"/>
                          </a:solidFill>
                          <a:latin typeface="Calibri"/>
                        </a:rPr>
                        <a:t>2</a:t>
                      </a:r>
                    </a:p>
                  </a:txBody>
                  <a:tcPr>
                    <a:solidFill>
                      <a:srgbClr val="F4F6F9"/>
                    </a:solidFill>
                  </a:tcPr>
                </a:tc>
                <a:tc>
                  <a:txBody>
                    <a:bodyPr/>
                    <a:lstStyle/>
                    <a:p>
                      <a:pPr algn="ctr"/>
                      <a:r>
                        <a:rPr sz="1100">
                          <a:solidFill>
                            <a:srgbClr val="595959"/>
                          </a:solidFill>
                          <a:latin typeface="Calibri"/>
                        </a:rPr>
                        <a:t>Analog &amp; mixed-signal</a:t>
                      </a:r>
                    </a:p>
                  </a:txBody>
                  <a:tcPr>
                    <a:solidFill>
                      <a:srgbClr val="F4F6F9"/>
                    </a:solidFill>
                  </a:tcPr>
                </a:tc>
                <a:tc>
                  <a:txBody>
                    <a:bodyPr/>
                    <a:lstStyle/>
                    <a:p>
                      <a:pPr algn="ctr"/>
                      <a:r>
                        <a:rPr sz="1100">
                          <a:solidFill>
                            <a:srgbClr val="595959"/>
                          </a:solidFill>
                          <a:latin typeface="Calibri"/>
                        </a:rPr>
                        <a:t>67.2</a:t>
                      </a:r>
                    </a:p>
                  </a:txBody>
                  <a:tcPr>
                    <a:solidFill>
                      <a:srgbClr val="F4F6F9"/>
                    </a:solidFill>
                  </a:tcPr>
                </a:tc>
                <a:tc>
                  <a:txBody>
                    <a:bodyPr/>
                    <a:lstStyle/>
                    <a:p>
                      <a:pPr algn="ctr"/>
                      <a:r>
                        <a:rPr sz="1100" b="1">
                          <a:solidFill>
                            <a:srgbClr val="1B6B45"/>
                          </a:solidFill>
                          <a:latin typeface="Calibri"/>
                        </a:rPr>
                        <a:t>Prioritize</a:t>
                      </a:r>
                    </a:p>
                  </a:txBody>
                  <a:tcPr>
                    <a:solidFill>
                      <a:srgbClr val="F4F6F9"/>
                    </a:solidFill>
                  </a:tcPr>
                </a:tc>
                <a:tc>
                  <a:txBody>
                    <a:bodyPr/>
                    <a:lstStyle/>
                    <a:p>
                      <a:pPr algn="ctr"/>
                      <a:r>
                        <a:rPr sz="1100">
                          <a:solidFill>
                            <a:srgbClr val="595959"/>
                          </a:solidFill>
                          <a:latin typeface="Calibri"/>
                        </a:rPr>
                        <a:t>3 / 4 / 1 / 2</a:t>
                      </a:r>
                    </a:p>
                  </a:txBody>
                  <a:tcPr>
                    <a:solidFill>
                      <a:srgbClr val="F4F6F9"/>
                    </a:solidFill>
                  </a:tcPr>
                </a:tc>
                <a:tc>
                  <a:txBody>
                    <a:bodyPr/>
                    <a:lstStyle/>
                    <a:p>
                      <a:pPr algn="ctr"/>
                      <a:r>
                        <a:rPr sz="1100">
                          <a:solidFill>
                            <a:srgbClr val="595959"/>
                          </a:solidFill>
                          <a:latin typeface="Calibri"/>
                        </a:rPr>
                        <a:t>1 to 4</a:t>
                      </a:r>
                    </a:p>
                  </a:txBody>
                  <a:tcPr>
                    <a:solidFill>
                      <a:srgbClr val="F4F6F9"/>
                    </a:solidFill>
                  </a:tcPr>
                </a:tc>
                <a:tc>
                  <a:txBody>
                    <a:bodyPr/>
                    <a:lstStyle/>
                    <a:p>
                      <a:pPr algn="ctr"/>
                      <a:r>
                        <a:rPr sz="1100">
                          <a:solidFill>
                            <a:srgbClr val="595959"/>
                          </a:solidFill>
                          <a:latin typeface="Calibri"/>
                        </a:rPr>
                        <a:t>Weight-sensitive</a:t>
                      </a:r>
                    </a:p>
                  </a:txBody>
                  <a:tcPr>
                    <a:solidFill>
                      <a:srgbClr val="F4F6F9"/>
                    </a:solidFill>
                  </a:tcPr>
                </a:tc>
              </a:tr>
              <a:tr h="292608">
                <a:tc>
                  <a:txBody>
                    <a:bodyPr/>
                    <a:lstStyle/>
                    <a:p>
                      <a:pPr algn="l"/>
                      <a:r>
                        <a:rPr sz="1100">
                          <a:solidFill>
                            <a:srgbClr val="595959"/>
                          </a:solidFill>
                          <a:latin typeface="Calibri"/>
                        </a:rPr>
                        <a:t>3</a:t>
                      </a:r>
                    </a:p>
                  </a:txBody>
                  <a:tcPr>
                    <a:solidFill>
                      <a:srgbClr val="FFFFFF"/>
                    </a:solidFill>
                  </a:tcPr>
                </a:tc>
                <a:tc>
                  <a:txBody>
                    <a:bodyPr/>
                    <a:lstStyle/>
                    <a:p>
                      <a:pPr algn="ctr"/>
                      <a:r>
                        <a:rPr sz="1100">
                          <a:solidFill>
                            <a:srgbClr val="595959"/>
                          </a:solidFill>
                          <a:latin typeface="Calibri"/>
                        </a:rPr>
                        <a:t>HPC / AI accelerator ASICs</a:t>
                      </a:r>
                    </a:p>
                  </a:txBody>
                  <a:tcPr>
                    <a:solidFill>
                      <a:srgbClr val="FFFFFF"/>
                    </a:solidFill>
                  </a:tcPr>
                </a:tc>
                <a:tc>
                  <a:txBody>
                    <a:bodyPr/>
                    <a:lstStyle/>
                    <a:p>
                      <a:pPr algn="ctr"/>
                      <a:r>
                        <a:rPr sz="1100">
                          <a:solidFill>
                            <a:srgbClr val="595959"/>
                          </a:solidFill>
                          <a:latin typeface="Calibri"/>
                        </a:rPr>
                        <a:t>64.1</a:t>
                      </a:r>
                    </a:p>
                  </a:txBody>
                  <a:tcPr>
                    <a:solidFill>
                      <a:srgbClr val="FFFFFF"/>
                    </a:solidFill>
                  </a:tcPr>
                </a:tc>
                <a:tc>
                  <a:txBody>
                    <a:bodyPr/>
                    <a:lstStyle/>
                    <a:p>
                      <a:pPr algn="ctr"/>
                      <a:r>
                        <a:rPr sz="1100" b="1">
                          <a:solidFill>
                            <a:srgbClr val="1B6B45"/>
                          </a:solidFill>
                          <a:latin typeface="Calibri"/>
                        </a:rPr>
                        <a:t>Prioritize</a:t>
                      </a:r>
                    </a:p>
                  </a:txBody>
                  <a:tcPr>
                    <a:solidFill>
                      <a:srgbClr val="FFFFFF"/>
                    </a:solidFill>
                  </a:tcPr>
                </a:tc>
                <a:tc>
                  <a:txBody>
                    <a:bodyPr/>
                    <a:lstStyle/>
                    <a:p>
                      <a:pPr algn="ctr"/>
                      <a:r>
                        <a:rPr sz="1100">
                          <a:solidFill>
                            <a:srgbClr val="595959"/>
                          </a:solidFill>
                          <a:latin typeface="Calibri"/>
                        </a:rPr>
                        <a:t>2 / 1 / 5 / 3</a:t>
                      </a:r>
                    </a:p>
                  </a:txBody>
                  <a:tcPr>
                    <a:solidFill>
                      <a:srgbClr val="FFFFFF"/>
                    </a:solidFill>
                  </a:tcPr>
                </a:tc>
                <a:tc>
                  <a:txBody>
                    <a:bodyPr/>
                    <a:lstStyle/>
                    <a:p>
                      <a:pPr algn="ctr"/>
                      <a:r>
                        <a:rPr sz="1100">
                          <a:solidFill>
                            <a:srgbClr val="595959"/>
                          </a:solidFill>
                          <a:latin typeface="Calibri"/>
                        </a:rPr>
                        <a:t>1 to 6</a:t>
                      </a:r>
                    </a:p>
                  </a:txBody>
                  <a:tcPr>
                    <a:solidFill>
                      <a:srgbClr val="FFFFFF"/>
                    </a:solidFill>
                  </a:tcPr>
                </a:tc>
                <a:tc>
                  <a:txBody>
                    <a:bodyPr/>
                    <a:lstStyle/>
                    <a:p>
                      <a:pPr algn="ctr"/>
                      <a:r>
                        <a:rPr sz="1100">
                          <a:solidFill>
                            <a:srgbClr val="595959"/>
                          </a:solidFill>
                          <a:latin typeface="Calibri"/>
                        </a:rPr>
                        <a:t>Weight-sensitive</a:t>
                      </a:r>
                    </a:p>
                  </a:txBody>
                  <a:tcPr>
                    <a:solidFill>
                      <a:srgbClr val="FFFFFF"/>
                    </a:solidFill>
                  </a:tcPr>
                </a:tc>
              </a:tr>
              <a:tr h="292608">
                <a:tc>
                  <a:txBody>
                    <a:bodyPr/>
                    <a:lstStyle/>
                    <a:p>
                      <a:pPr algn="l"/>
                      <a:r>
                        <a:rPr sz="1100">
                          <a:solidFill>
                            <a:srgbClr val="595959"/>
                          </a:solidFill>
                          <a:latin typeface="Calibri"/>
                        </a:rPr>
                        <a:t>4</a:t>
                      </a:r>
                    </a:p>
                  </a:txBody>
                  <a:tcPr>
                    <a:solidFill>
                      <a:srgbClr val="F4F6F9"/>
                    </a:solidFill>
                  </a:tcPr>
                </a:tc>
                <a:tc>
                  <a:txBody>
                    <a:bodyPr/>
                    <a:lstStyle/>
                    <a:p>
                      <a:pPr algn="ctr"/>
                      <a:r>
                        <a:rPr sz="1100">
                          <a:solidFill>
                            <a:srgbClr val="595959"/>
                          </a:solidFill>
                          <a:latin typeface="Calibri"/>
                        </a:rPr>
                        <a:t>Silicon photonics / optical interconnect</a:t>
                      </a:r>
                    </a:p>
                  </a:txBody>
                  <a:tcPr>
                    <a:solidFill>
                      <a:srgbClr val="F4F6F9"/>
                    </a:solidFill>
                  </a:tcPr>
                </a:tc>
                <a:tc>
                  <a:txBody>
                    <a:bodyPr/>
                    <a:lstStyle/>
                    <a:p>
                      <a:pPr algn="ctr"/>
                      <a:r>
                        <a:rPr sz="1100">
                          <a:solidFill>
                            <a:srgbClr val="595959"/>
                          </a:solidFill>
                          <a:latin typeface="Calibri"/>
                        </a:rPr>
                        <a:t>56.6</a:t>
                      </a:r>
                    </a:p>
                  </a:txBody>
                  <a:tcPr>
                    <a:solidFill>
                      <a:srgbClr val="F4F6F9"/>
                    </a:solidFill>
                  </a:tcPr>
                </a:tc>
                <a:tc>
                  <a:txBody>
                    <a:bodyPr/>
                    <a:lstStyle/>
                    <a:p>
                      <a:pPr algn="ctr"/>
                      <a:r>
                        <a:rPr sz="1100" b="1">
                          <a:solidFill>
                            <a:srgbClr val="B07A12"/>
                          </a:solidFill>
                          <a:latin typeface="Calibri"/>
                        </a:rPr>
                        <a:t>Selective</a:t>
                      </a:r>
                    </a:p>
                  </a:txBody>
                  <a:tcPr>
                    <a:solidFill>
                      <a:srgbClr val="F4F6F9"/>
                    </a:solidFill>
                  </a:tcPr>
                </a:tc>
                <a:tc>
                  <a:txBody>
                    <a:bodyPr/>
                    <a:lstStyle/>
                    <a:p>
                      <a:pPr algn="ctr"/>
                      <a:r>
                        <a:rPr sz="1100">
                          <a:solidFill>
                            <a:srgbClr val="595959"/>
                          </a:solidFill>
                          <a:latin typeface="Calibri"/>
                        </a:rPr>
                        <a:t>4 / 2 / 3 / 4</a:t>
                      </a:r>
                    </a:p>
                  </a:txBody>
                  <a:tcPr>
                    <a:solidFill>
                      <a:srgbClr val="F4F6F9"/>
                    </a:solidFill>
                  </a:tcPr>
                </a:tc>
                <a:tc>
                  <a:txBody>
                    <a:bodyPr/>
                    <a:lstStyle/>
                    <a:p>
                      <a:pPr algn="ctr"/>
                      <a:r>
                        <a:rPr sz="1100">
                          <a:solidFill>
                            <a:srgbClr val="595959"/>
                          </a:solidFill>
                          <a:latin typeface="Calibri"/>
                        </a:rPr>
                        <a:t>2 to 6</a:t>
                      </a:r>
                    </a:p>
                  </a:txBody>
                  <a:tcPr>
                    <a:solidFill>
                      <a:srgbClr val="F4F6F9"/>
                    </a:solidFill>
                  </a:tcPr>
                </a:tc>
                <a:tc>
                  <a:txBody>
                    <a:bodyPr/>
                    <a:lstStyle/>
                    <a:p>
                      <a:pPr algn="ctr"/>
                      <a:r>
                        <a:rPr sz="1100">
                          <a:solidFill>
                            <a:srgbClr val="595959"/>
                          </a:solidFill>
                          <a:latin typeface="Calibri"/>
                        </a:rPr>
                        <a:t>Weight-sensitive</a:t>
                      </a:r>
                    </a:p>
                  </a:txBody>
                  <a:tcPr>
                    <a:solidFill>
                      <a:srgbClr val="F4F6F9"/>
                    </a:solidFill>
                  </a:tcPr>
                </a:tc>
              </a:tr>
              <a:tr h="292608">
                <a:tc>
                  <a:txBody>
                    <a:bodyPr/>
                    <a:lstStyle/>
                    <a:p>
                      <a:pPr algn="l"/>
                      <a:r>
                        <a:rPr sz="1100">
                          <a:solidFill>
                            <a:srgbClr val="595959"/>
                          </a:solidFill>
                          <a:latin typeface="Calibri"/>
                        </a:rPr>
                        <a:t>5</a:t>
                      </a:r>
                    </a:p>
                  </a:txBody>
                  <a:tcPr>
                    <a:solidFill>
                      <a:srgbClr val="FFFFFF"/>
                    </a:solidFill>
                  </a:tcPr>
                </a:tc>
                <a:tc>
                  <a:txBody>
                    <a:bodyPr/>
                    <a:lstStyle/>
                    <a:p>
                      <a:pPr algn="ctr"/>
                      <a:r>
                        <a:rPr sz="1100">
                          <a:solidFill>
                            <a:srgbClr val="595959"/>
                          </a:solidFill>
                          <a:latin typeface="Calibri"/>
                        </a:rPr>
                        <a:t>Power electronics (SiC / GaN)</a:t>
                      </a:r>
                    </a:p>
                  </a:txBody>
                  <a:tcPr>
                    <a:solidFill>
                      <a:srgbClr val="FFFFFF"/>
                    </a:solidFill>
                  </a:tcPr>
                </a:tc>
                <a:tc>
                  <a:txBody>
                    <a:bodyPr/>
                    <a:lstStyle/>
                    <a:p>
                      <a:pPr algn="ctr"/>
                      <a:r>
                        <a:rPr sz="1100">
                          <a:solidFill>
                            <a:srgbClr val="595959"/>
                          </a:solidFill>
                          <a:latin typeface="Calibri"/>
                        </a:rPr>
                        <a:t>48.9</a:t>
                      </a:r>
                    </a:p>
                  </a:txBody>
                  <a:tcPr>
                    <a:solidFill>
                      <a:srgbClr val="FFFFFF"/>
                    </a:solidFill>
                  </a:tcPr>
                </a:tc>
                <a:tc>
                  <a:txBody>
                    <a:bodyPr/>
                    <a:lstStyle/>
                    <a:p>
                      <a:pPr algn="ctr"/>
                      <a:r>
                        <a:rPr sz="1100" b="1">
                          <a:solidFill>
                            <a:srgbClr val="B07A12"/>
                          </a:solidFill>
                          <a:latin typeface="Calibri"/>
                        </a:rPr>
                        <a:t>Selective</a:t>
                      </a:r>
                    </a:p>
                  </a:txBody>
                  <a:tcPr>
                    <a:solidFill>
                      <a:srgbClr val="FFFFFF"/>
                    </a:solidFill>
                  </a:tcPr>
                </a:tc>
                <a:tc>
                  <a:txBody>
                    <a:bodyPr/>
                    <a:lstStyle/>
                    <a:p>
                      <a:pPr algn="ctr"/>
                      <a:r>
                        <a:rPr sz="1100">
                          <a:solidFill>
                            <a:srgbClr val="595959"/>
                          </a:solidFill>
                          <a:latin typeface="Calibri"/>
                        </a:rPr>
                        <a:t>5 / 5 / 6 / 6</a:t>
                      </a:r>
                    </a:p>
                  </a:txBody>
                  <a:tcPr>
                    <a:solidFill>
                      <a:srgbClr val="FFFFFF"/>
                    </a:solidFill>
                  </a:tcPr>
                </a:tc>
                <a:tc>
                  <a:txBody>
                    <a:bodyPr/>
                    <a:lstStyle/>
                    <a:p>
                      <a:pPr algn="ctr"/>
                      <a:r>
                        <a:rPr sz="1100">
                          <a:solidFill>
                            <a:srgbClr val="595959"/>
                          </a:solidFill>
                          <a:latin typeface="Calibri"/>
                        </a:rPr>
                        <a:t>3 to 6</a:t>
                      </a:r>
                    </a:p>
                  </a:txBody>
                  <a:tcPr>
                    <a:solidFill>
                      <a:srgbClr val="FFFFFF"/>
                    </a:solidFill>
                  </a:tcPr>
                </a:tc>
                <a:tc>
                  <a:txBody>
                    <a:bodyPr/>
                    <a:lstStyle/>
                    <a:p>
                      <a:pPr algn="ctr"/>
                      <a:r>
                        <a:rPr sz="1100">
                          <a:solidFill>
                            <a:srgbClr val="595959"/>
                          </a:solidFill>
                          <a:latin typeface="Calibri"/>
                        </a:rPr>
                        <a:t>Weight-sensitive</a:t>
                      </a:r>
                    </a:p>
                  </a:txBody>
                  <a:tcPr>
                    <a:solidFill>
                      <a:srgbClr val="FFFFFF"/>
                    </a:solidFill>
                  </a:tcPr>
                </a:tc>
              </a:tr>
              <a:tr h="292608">
                <a:tc>
                  <a:txBody>
                    <a:bodyPr/>
                    <a:lstStyle/>
                    <a:p>
                      <a:pPr algn="l"/>
                      <a:r>
                        <a:rPr sz="1100">
                          <a:solidFill>
                            <a:srgbClr val="595959"/>
                          </a:solidFill>
                          <a:latin typeface="Calibri"/>
                        </a:rPr>
                        <a:t>6</a:t>
                      </a:r>
                    </a:p>
                  </a:txBody>
                  <a:tcPr>
                    <a:solidFill>
                      <a:srgbClr val="F4F6F9"/>
                    </a:solidFill>
                  </a:tcPr>
                </a:tc>
                <a:tc>
                  <a:txBody>
                    <a:bodyPr/>
                    <a:lstStyle/>
                    <a:p>
                      <a:pPr algn="ctr"/>
                      <a:r>
                        <a:rPr sz="1100">
                          <a:solidFill>
                            <a:srgbClr val="595959"/>
                          </a:solidFill>
                          <a:latin typeface="Calibri"/>
                        </a:rPr>
                        <a:t>MEMS &amp; sensors</a:t>
                      </a:r>
                    </a:p>
                  </a:txBody>
                  <a:tcPr>
                    <a:solidFill>
                      <a:srgbClr val="F4F6F9"/>
                    </a:solidFill>
                  </a:tcPr>
                </a:tc>
                <a:tc>
                  <a:txBody>
                    <a:bodyPr/>
                    <a:lstStyle/>
                    <a:p>
                      <a:pPr algn="ctr"/>
                      <a:r>
                        <a:rPr sz="1100">
                          <a:solidFill>
                            <a:srgbClr val="595959"/>
                          </a:solidFill>
                          <a:latin typeface="Calibri"/>
                        </a:rPr>
                        <a:t>40.5</a:t>
                      </a:r>
                    </a:p>
                  </a:txBody>
                  <a:tcPr>
                    <a:solidFill>
                      <a:srgbClr val="F4F6F9"/>
                    </a:solidFill>
                  </a:tcPr>
                </a:tc>
                <a:tc>
                  <a:txBody>
                    <a:bodyPr/>
                    <a:lstStyle/>
                    <a:p>
                      <a:pPr algn="ctr"/>
                      <a:r>
                        <a:rPr sz="1100" b="1">
                          <a:solidFill>
                            <a:srgbClr val="9C3A3A"/>
                          </a:solidFill>
                          <a:latin typeface="Calibri"/>
                        </a:rPr>
                        <a:t>Deprioritize</a:t>
                      </a:r>
                    </a:p>
                  </a:txBody>
                  <a:tcPr>
                    <a:solidFill>
                      <a:srgbClr val="F4F6F9"/>
                    </a:solidFill>
                  </a:tcPr>
                </a:tc>
                <a:tc>
                  <a:txBody>
                    <a:bodyPr/>
                    <a:lstStyle/>
                    <a:p>
                      <a:pPr algn="ctr"/>
                      <a:r>
                        <a:rPr sz="1100">
                          <a:solidFill>
                            <a:srgbClr val="595959"/>
                          </a:solidFill>
                          <a:latin typeface="Calibri"/>
                        </a:rPr>
                        <a:t>6 / 6 / 4 / 5</a:t>
                      </a:r>
                    </a:p>
                  </a:txBody>
                  <a:tcPr>
                    <a:solidFill>
                      <a:srgbClr val="F4F6F9"/>
                    </a:solidFill>
                  </a:tcPr>
                </a:tc>
                <a:tc>
                  <a:txBody>
                    <a:bodyPr/>
                    <a:lstStyle/>
                    <a:p>
                      <a:pPr algn="ctr"/>
                      <a:r>
                        <a:rPr sz="1100">
                          <a:solidFill>
                            <a:srgbClr val="595959"/>
                          </a:solidFill>
                          <a:latin typeface="Calibri"/>
                        </a:rPr>
                        <a:t>3 to 6</a:t>
                      </a:r>
                    </a:p>
                  </a:txBody>
                  <a:tcPr>
                    <a:solidFill>
                      <a:srgbClr val="F4F6F9"/>
                    </a:solidFill>
                  </a:tcPr>
                </a:tc>
                <a:tc>
                  <a:txBody>
                    <a:bodyPr/>
                    <a:lstStyle/>
                    <a:p>
                      <a:pPr algn="ctr"/>
                      <a:r>
                        <a:rPr sz="1100">
                          <a:solidFill>
                            <a:srgbClr val="595959"/>
                          </a:solidFill>
                          <a:latin typeface="Calibri"/>
                        </a:rPr>
                        <a:t>Weight-sensitive</a:t>
                      </a:r>
                    </a:p>
                  </a:txBody>
                  <a:tcPr>
                    <a:solidFill>
                      <a:srgbClr val="F4F6F9"/>
                    </a:solidFill>
                  </a:tcPr>
                </a:tc>
              </a:tr>
              <a:tr h="292608">
                <a:tc>
                  <a:txBody>
                    <a:bodyPr/>
                    <a:lstStyle/>
                    <a:p>
                      <a:pPr algn="l"/>
                      <a:r>
                        <a:rPr sz="1100">
                          <a:solidFill>
                            <a:srgbClr val="595959"/>
                          </a:solidFill>
                          <a:latin typeface="Calibri"/>
                        </a:rPr>
                        <a:t>7</a:t>
                      </a:r>
                    </a:p>
                  </a:txBody>
                  <a:tcPr>
                    <a:solidFill>
                      <a:srgbClr val="FFFFFF"/>
                    </a:solidFill>
                  </a:tcPr>
                </a:tc>
                <a:tc>
                  <a:txBody>
                    <a:bodyPr/>
                    <a:lstStyle/>
                    <a:p>
                      <a:pPr algn="ctr"/>
                      <a:r>
                        <a:rPr sz="1100">
                          <a:solidFill>
                            <a:srgbClr val="595959"/>
                          </a:solidFill>
                          <a:latin typeface="Calibri"/>
                        </a:rPr>
                        <a:t>RF &amp; 5G front-end</a:t>
                      </a:r>
                    </a:p>
                  </a:txBody>
                  <a:tcPr>
                    <a:solidFill>
                      <a:srgbClr val="FFFFFF"/>
                    </a:solidFill>
                  </a:tcPr>
                </a:tc>
                <a:tc>
                  <a:txBody>
                    <a:bodyPr/>
                    <a:lstStyle/>
                    <a:p>
                      <a:pPr algn="ctr"/>
                      <a:r>
                        <a:rPr sz="1100">
                          <a:solidFill>
                            <a:srgbClr val="595959"/>
                          </a:solidFill>
                          <a:latin typeface="Calibri"/>
                        </a:rPr>
                        <a:t>32.9</a:t>
                      </a:r>
                    </a:p>
                  </a:txBody>
                  <a:tcPr>
                    <a:solidFill>
                      <a:srgbClr val="FFFFFF"/>
                    </a:solidFill>
                  </a:tcPr>
                </a:tc>
                <a:tc>
                  <a:txBody>
                    <a:bodyPr/>
                    <a:lstStyle/>
                    <a:p>
                      <a:pPr algn="ctr"/>
                      <a:r>
                        <a:rPr sz="1100" b="1">
                          <a:solidFill>
                            <a:srgbClr val="9C3A3A"/>
                          </a:solidFill>
                          <a:latin typeface="Calibri"/>
                        </a:rPr>
                        <a:t>Deprioritize</a:t>
                      </a:r>
                    </a:p>
                  </a:txBody>
                  <a:tcPr>
                    <a:solidFill>
                      <a:srgbClr val="FFFFFF"/>
                    </a:solidFill>
                  </a:tcPr>
                </a:tc>
                <a:tc>
                  <a:txBody>
                    <a:bodyPr/>
                    <a:lstStyle/>
                    <a:p>
                      <a:pPr algn="ctr"/>
                      <a:r>
                        <a:rPr sz="1100">
                          <a:solidFill>
                            <a:srgbClr val="595959"/>
                          </a:solidFill>
                          <a:latin typeface="Calibri"/>
                        </a:rPr>
                        <a:t>7 / 7 / 7 / 7</a:t>
                      </a:r>
                    </a:p>
                  </a:txBody>
                  <a:tcPr>
                    <a:solidFill>
                      <a:srgbClr val="FFFFFF"/>
                    </a:solidFill>
                  </a:tcPr>
                </a:tc>
                <a:tc>
                  <a:txBody>
                    <a:bodyPr/>
                    <a:lstStyle/>
                    <a:p>
                      <a:pPr algn="ctr"/>
                      <a:r>
                        <a:rPr sz="1100">
                          <a:solidFill>
                            <a:srgbClr val="595959"/>
                          </a:solidFill>
                          <a:latin typeface="Calibri"/>
                        </a:rPr>
                        <a:t>7</a:t>
                      </a:r>
                    </a:p>
                  </a:txBody>
                  <a:tcPr>
                    <a:solidFill>
                      <a:srgbClr val="FFFFFF"/>
                    </a:solidFill>
                  </a:tcPr>
                </a:tc>
                <a:tc>
                  <a:txBody>
                    <a:bodyPr/>
                    <a:lstStyle/>
                    <a:p>
                      <a:pPr algn="ctr"/>
                      <a:r>
                        <a:rPr sz="1100">
                          <a:solidFill>
                            <a:srgbClr val="595959"/>
                          </a:solidFill>
                          <a:latin typeface="Calibri"/>
                        </a:rPr>
                        <a:t>Fixed</a:t>
                      </a:r>
                    </a:p>
                  </a:txBody>
                  <a:tcPr>
                    <a:solidFill>
                      <a:srgbClr val="FFFFFF"/>
                    </a:solidFill>
                  </a:tcPr>
                </a:tc>
              </a:tr>
              <a:tr h="292608">
                <a:tc>
                  <a:txBody>
                    <a:bodyPr/>
                    <a:lstStyle/>
                    <a:p>
                      <a:pPr algn="l"/>
                      <a:r>
                        <a:rPr sz="1100">
                          <a:solidFill>
                            <a:srgbClr val="595959"/>
                          </a:solidFill>
                          <a:latin typeface="Calibri"/>
                        </a:rPr>
                        <a:t>8</a:t>
                      </a:r>
                    </a:p>
                  </a:txBody>
                  <a:tcPr>
                    <a:solidFill>
                      <a:srgbClr val="F4F6F9"/>
                    </a:solidFill>
                  </a:tcPr>
                </a:tc>
                <a:tc>
                  <a:txBody>
                    <a:bodyPr/>
                    <a:lstStyle/>
                    <a:p>
                      <a:pPr algn="ctr"/>
                      <a:r>
                        <a:rPr sz="1100">
                          <a:solidFill>
                            <a:srgbClr val="595959"/>
                          </a:solidFill>
                          <a:latin typeface="Calibri"/>
                        </a:rPr>
                        <a:t>Memory (DRAM / NAND)</a:t>
                      </a:r>
                    </a:p>
                  </a:txBody>
                  <a:tcPr>
                    <a:solidFill>
                      <a:srgbClr val="F4F6F9"/>
                    </a:solidFill>
                  </a:tcPr>
                </a:tc>
                <a:tc>
                  <a:txBody>
                    <a:bodyPr/>
                    <a:lstStyle/>
                    <a:p>
                      <a:pPr algn="ctr"/>
                      <a:r>
                        <a:rPr sz="1100">
                          <a:solidFill>
                            <a:srgbClr val="595959"/>
                          </a:solidFill>
                          <a:latin typeface="Calibri"/>
                        </a:rPr>
                        <a:t>6.9</a:t>
                      </a:r>
                    </a:p>
                  </a:txBody>
                  <a:tcPr>
                    <a:solidFill>
                      <a:srgbClr val="F4F6F9"/>
                    </a:solidFill>
                  </a:tcPr>
                </a:tc>
                <a:tc>
                  <a:txBody>
                    <a:bodyPr/>
                    <a:lstStyle/>
                    <a:p>
                      <a:pPr algn="ctr"/>
                      <a:r>
                        <a:rPr sz="1100" b="1">
                          <a:solidFill>
                            <a:srgbClr val="9C3A3A"/>
                          </a:solidFill>
                          <a:latin typeface="Calibri"/>
                        </a:rPr>
                        <a:t>Deprioritize</a:t>
                      </a:r>
                    </a:p>
                  </a:txBody>
                  <a:tcPr>
                    <a:solidFill>
                      <a:srgbClr val="F4F6F9"/>
                    </a:solidFill>
                  </a:tcPr>
                </a:tc>
                <a:tc>
                  <a:txBody>
                    <a:bodyPr/>
                    <a:lstStyle/>
                    <a:p>
                      <a:pPr algn="ctr"/>
                      <a:r>
                        <a:rPr sz="1100">
                          <a:solidFill>
                            <a:srgbClr val="595959"/>
                          </a:solidFill>
                          <a:latin typeface="Calibri"/>
                        </a:rPr>
                        <a:t>8 / 8 / 8 / 8</a:t>
                      </a:r>
                    </a:p>
                  </a:txBody>
                  <a:tcPr>
                    <a:solidFill>
                      <a:srgbClr val="F4F6F9"/>
                    </a:solidFill>
                  </a:tcPr>
                </a:tc>
                <a:tc>
                  <a:txBody>
                    <a:bodyPr/>
                    <a:lstStyle/>
                    <a:p>
                      <a:pPr algn="ctr"/>
                      <a:r>
                        <a:rPr sz="1100">
                          <a:solidFill>
                            <a:srgbClr val="595959"/>
                          </a:solidFill>
                          <a:latin typeface="Calibri"/>
                        </a:rPr>
                        <a:t>8</a:t>
                      </a:r>
                    </a:p>
                  </a:txBody>
                  <a:tcPr>
                    <a:solidFill>
                      <a:srgbClr val="F4F6F9"/>
                    </a:solidFill>
                  </a:tcPr>
                </a:tc>
                <a:tc>
                  <a:txBody>
                    <a:bodyPr/>
                    <a:lstStyle/>
                    <a:p>
                      <a:pPr algn="ctr"/>
                      <a:r>
                        <a:rPr sz="1100">
                          <a:solidFill>
                            <a:srgbClr val="595959"/>
                          </a:solidFill>
                          <a:latin typeface="Calibri"/>
                        </a:rPr>
                        <a:t>Fixed</a:t>
                      </a:r>
                    </a:p>
                  </a:txBody>
                  <a:tcPr>
                    <a:solidFill>
                      <a:srgbClr val="F4F6F9"/>
                    </a:solidFill>
                  </a:tcPr>
                </a:tc>
              </a:tr>
            </a:tbl>
          </a:graphicData>
        </a:graphic>
      </p:graphicFrame>
      <p:sp>
        <p:nvSpPr>
          <p:cNvPr id="8" name="TextBox 7"/>
          <p:cNvSpPr txBox="1"/>
          <p:nvPr/>
        </p:nvSpPr>
        <p:spPr>
          <a:xfrm>
            <a:off x="502920" y="4572000"/>
            <a:ext cx="11185855" cy="1737360"/>
          </a:xfrm>
          <a:prstGeom prst="rect">
            <a:avLst/>
          </a:prstGeom>
          <a:noFill/>
        </p:spPr>
        <p:txBody>
          <a:bodyPr wrap="square">
            <a:spAutoFit/>
          </a:bodyPr>
          <a:lstStyle/>
          <a:p>
            <a:pPr>
              <a:spcAft>
                <a:spcPts val="1000"/>
              </a:spcAft>
            </a:pPr>
            <a:r>
              <a:rPr sz="1200" b="1">
                <a:solidFill>
                  <a:srgbClr val="1F3864"/>
                </a:solidFill>
                <a:latin typeface="Calibri"/>
              </a:rPr>
              <a:t>Settled by the data.  </a:t>
            </a:r>
            <a:r>
              <a:rPr sz="1200">
                <a:solidFill>
                  <a:srgbClr val="595959"/>
                </a:solidFill>
                <a:latin typeface="Calibri"/>
              </a:rPr>
              <a:t>Memory is eighth and RF &amp; 5G is seventh in every forward year under every weighting tried. Those two calls do not depend on our judgment at all.</a:t>
            </a:r>
          </a:p>
          <a:p>
            <a:pPr>
              <a:spcAft>
                <a:spcPts val="1000"/>
              </a:spcAft>
            </a:pPr>
            <a:r>
              <a:rPr sz="1200" b="1">
                <a:solidFill>
                  <a:srgbClr val="1F3864"/>
                </a:solidFill>
                <a:latin typeface="Calibri"/>
              </a:rPr>
              <a:t>Settled by the weights.  </a:t>
            </a:r>
            <a:r>
              <a:rPr sz="1200">
                <a:solidFill>
                  <a:srgbClr val="595959"/>
                </a:solidFill>
                <a:latin typeface="Calibri"/>
              </a:rPr>
              <a:t>HPC ranges from first to sixth depending on how the model is weighted. It is in the prioritize group on the size of the pool it opens, not on the strength of its score, and the entry plan has to reflect that.</a:t>
            </a:r>
          </a:p>
          <a:p>
            <a:pPr>
              <a:spcAft>
                <a:spcPts val="1000"/>
              </a:spcAft>
            </a:pPr>
            <a:r>
              <a:rPr sz="1200" b="1">
                <a:solidFill>
                  <a:srgbClr val="1F3864"/>
                </a:solidFill>
                <a:latin typeface="Calibri"/>
              </a:rPr>
              <a:t>Why automotive leads.  </a:t>
            </a:r>
            <a:r>
              <a:rPr sz="1200">
                <a:solidFill>
                  <a:srgbClr val="595959"/>
                </a:solidFill>
                <a:latin typeface="Calibri"/>
              </a:rPr>
              <a:t>It never falls below third under any weighting, and analog never below fourth. They are the two most stable positions in the set, which is what makes them safe to build capacity against.</a:t>
            </a:r>
          </a:p>
        </p:txBody>
      </p:sp>
      <p:sp>
        <p:nvSpPr>
          <p:cNvPr id="9" name="Rectangle 8"/>
          <p:cNvSpPr/>
          <p:nvPr/>
        </p:nvSpPr>
        <p:spPr>
          <a:xfrm>
            <a:off x="502920" y="6089904"/>
            <a:ext cx="146304" cy="146304"/>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6035040"/>
            <a:ext cx="1234440" cy="256032"/>
          </a:xfrm>
          <a:prstGeom prst="rect">
            <a:avLst/>
          </a:prstGeom>
          <a:noFill/>
        </p:spPr>
        <p:txBody>
          <a:bodyPr wrap="square">
            <a:spAutoFit/>
          </a:bodyPr>
          <a:lstStyle/>
          <a:p>
            <a:pPr algn="l">
              <a:spcAft>
                <a:spcPts val="600"/>
              </a:spcAft>
            </a:pPr>
            <a:r>
              <a:rPr sz="1100" b="1" i="0">
                <a:solidFill>
                  <a:srgbClr val="1B6B45"/>
                </a:solidFill>
                <a:latin typeface="Calibri"/>
              </a:rPr>
              <a:t>Prioritize</a:t>
            </a:r>
          </a:p>
        </p:txBody>
      </p:sp>
      <p:sp>
        <p:nvSpPr>
          <p:cNvPr id="11" name="Rectangle 10"/>
          <p:cNvSpPr/>
          <p:nvPr/>
        </p:nvSpPr>
        <p:spPr>
          <a:xfrm>
            <a:off x="1984248" y="6089904"/>
            <a:ext cx="146304" cy="146304"/>
          </a:xfrm>
          <a:prstGeom prst="rect">
            <a:avLst/>
          </a:prstGeom>
          <a:solidFill>
            <a:srgbClr val="B07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5416" y="6035040"/>
            <a:ext cx="1234440" cy="256032"/>
          </a:xfrm>
          <a:prstGeom prst="rect">
            <a:avLst/>
          </a:prstGeom>
          <a:noFill/>
        </p:spPr>
        <p:txBody>
          <a:bodyPr wrap="square">
            <a:spAutoFit/>
          </a:bodyPr>
          <a:lstStyle/>
          <a:p>
            <a:pPr algn="l">
              <a:spcAft>
                <a:spcPts val="600"/>
              </a:spcAft>
            </a:pPr>
            <a:r>
              <a:rPr sz="1100" b="1" i="0">
                <a:solidFill>
                  <a:srgbClr val="B07A12"/>
                </a:solidFill>
                <a:latin typeface="Calibri"/>
              </a:rPr>
              <a:t>Selective</a:t>
            </a:r>
          </a:p>
        </p:txBody>
      </p:sp>
      <p:sp>
        <p:nvSpPr>
          <p:cNvPr id="13" name="Rectangle 12"/>
          <p:cNvSpPr/>
          <p:nvPr/>
        </p:nvSpPr>
        <p:spPr>
          <a:xfrm>
            <a:off x="3465576" y="6089904"/>
            <a:ext cx="146304" cy="146304"/>
          </a:xfrm>
          <a:prstGeom prst="rect">
            <a:avLst/>
          </a:prstGeom>
          <a:solidFill>
            <a:srgbClr val="9C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6744" y="6035040"/>
            <a:ext cx="1234440" cy="256032"/>
          </a:xfrm>
          <a:prstGeom prst="rect">
            <a:avLst/>
          </a:prstGeom>
          <a:noFill/>
        </p:spPr>
        <p:txBody>
          <a:bodyPr wrap="square">
            <a:spAutoFit/>
          </a:bodyPr>
          <a:lstStyle/>
          <a:p>
            <a:pPr algn="l">
              <a:spcAft>
                <a:spcPts val="600"/>
              </a:spcAft>
            </a:pPr>
            <a:r>
              <a:rPr sz="1100" b="1" i="0">
                <a:solidFill>
                  <a:srgbClr val="9C3A3A"/>
                </a:solidFill>
                <a:latin typeface="Calibri"/>
              </a:rPr>
              <a:t>Deprioritize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777240"/>
          </a:xfrm>
          <a:prstGeom prst="rect">
            <a:avLst/>
          </a:prstGeom>
          <a:noFill/>
        </p:spPr>
        <p:txBody>
          <a:bodyPr wrap="square">
            <a:spAutoFit/>
          </a:bodyPr>
          <a:lstStyle/>
          <a:p>
            <a:pPr algn="l">
              <a:spcAft>
                <a:spcPts val="600"/>
              </a:spcAft>
            </a:pPr>
            <a:r>
              <a:rPr sz="2700" b="1" i="0">
                <a:solidFill>
                  <a:srgbClr val="1F3864"/>
                </a:solidFill>
                <a:latin typeface="Calibri"/>
              </a:rPr>
              <a:t>Go on three, partner on one, hold one, and stop spending attention on three</a:t>
            </a:r>
          </a:p>
        </p:txBody>
      </p:sp>
      <p:sp>
        <p:nvSpPr>
          <p:cNvPr id="3" name="Rectangle 2"/>
          <p:cNvSpPr/>
          <p:nvPr/>
        </p:nvSpPr>
        <p:spPr>
          <a:xfrm>
            <a:off x="502920" y="1225296"/>
            <a:ext cx="11185855" cy="14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11185855" cy="274320"/>
          </a:xfrm>
          <a:prstGeom prst="rect">
            <a:avLst/>
          </a:prstGeom>
          <a:noFill/>
        </p:spPr>
        <p:txBody>
          <a:bodyPr wrap="square">
            <a:spAutoFit/>
          </a:bodyPr>
          <a:lstStyle/>
          <a:p>
            <a:pPr algn="l">
              <a:spcAft>
                <a:spcPts val="600"/>
              </a:spcAft>
            </a:pPr>
            <a:r>
              <a:rPr sz="1100" b="0" i="1">
                <a:solidFill>
                  <a:srgbClr val="595959"/>
                </a:solidFill>
                <a:latin typeface="Calibri"/>
              </a:rPr>
              <a:t>Go / no-go recommendation</a:t>
            </a:r>
          </a:p>
        </p:txBody>
      </p:sp>
      <p:sp>
        <p:nvSpPr>
          <p:cNvPr id="5" name="TextBox 4"/>
          <p:cNvSpPr txBox="1"/>
          <p:nvPr/>
        </p:nvSpPr>
        <p:spPr>
          <a:xfrm>
            <a:off x="502920" y="6428232"/>
            <a:ext cx="9601200" cy="274320"/>
          </a:xfrm>
          <a:prstGeom prst="rect">
            <a:avLst/>
          </a:prstGeom>
          <a:noFill/>
        </p:spPr>
        <p:txBody>
          <a:bodyPr wrap="square">
            <a:spAutoFit/>
          </a:bodyPr>
          <a:lstStyle/>
          <a:p>
            <a:pPr algn="l">
              <a:spcAft>
                <a:spcPts val="600"/>
              </a:spcAft>
            </a:pPr>
            <a:r>
              <a:rPr sz="900" b="0" i="0">
                <a:solidFill>
                  <a:srgbClr val="595959"/>
                </a:solidFill>
                <a:latin typeface="Calibri"/>
              </a:rPr>
              <a:t>Semiconductor design-services opportunity  |  Illustrative dataset, not market research</a:t>
            </a:r>
          </a:p>
        </p:txBody>
      </p:sp>
      <p:sp>
        <p:nvSpPr>
          <p:cNvPr id="6" name="TextBox 5"/>
          <p:cNvSpPr txBox="1"/>
          <p:nvPr/>
        </p:nvSpPr>
        <p:spPr>
          <a:xfrm>
            <a:off x="11094415" y="6428232"/>
            <a:ext cx="594360" cy="274320"/>
          </a:xfrm>
          <a:prstGeom prst="rect">
            <a:avLst/>
          </a:prstGeom>
          <a:noFill/>
        </p:spPr>
        <p:txBody>
          <a:bodyPr wrap="square">
            <a:spAutoFit/>
          </a:bodyPr>
          <a:lstStyle/>
          <a:p>
            <a:pPr algn="r">
              <a:spcAft>
                <a:spcPts val="600"/>
              </a:spcAft>
            </a:pPr>
            <a:r>
              <a:rPr sz="900" b="0" i="0">
                <a:solidFill>
                  <a:srgbClr val="595959"/>
                </a:solidFill>
                <a:latin typeface="Calibri"/>
              </a:rPr>
              <a:t>6</a:t>
            </a:r>
          </a:p>
        </p:txBody>
      </p:sp>
      <p:sp>
        <p:nvSpPr>
          <p:cNvPr id="7" name="Rectangle 6"/>
          <p:cNvSpPr/>
          <p:nvPr/>
        </p:nvSpPr>
        <p:spPr>
          <a:xfrm>
            <a:off x="502920" y="1417320"/>
            <a:ext cx="11185855" cy="14173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28000" cy="1417320"/>
          </a:xfrm>
          <a:prstGeom prst="rect">
            <a:avLst/>
          </a:prstGeom>
          <a:solidFill>
            <a:srgbClr val="1B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08760"/>
            <a:ext cx="2286000" cy="274320"/>
          </a:xfrm>
          <a:prstGeom prst="rect">
            <a:avLst/>
          </a:prstGeom>
          <a:noFill/>
        </p:spPr>
        <p:txBody>
          <a:bodyPr wrap="square">
            <a:spAutoFit/>
          </a:bodyPr>
          <a:lstStyle/>
          <a:p>
            <a:pPr algn="l">
              <a:spcAft>
                <a:spcPts val="600"/>
              </a:spcAft>
            </a:pPr>
            <a:r>
              <a:rPr sz="1300" b="1" i="0">
                <a:solidFill>
                  <a:srgbClr val="1B6B45"/>
                </a:solidFill>
                <a:latin typeface="Calibri"/>
              </a:rPr>
              <a:t>PRIORITIZE</a:t>
            </a:r>
          </a:p>
        </p:txBody>
      </p:sp>
      <p:sp>
        <p:nvSpPr>
          <p:cNvPr id="10" name="TextBox 9"/>
          <p:cNvSpPr txBox="1"/>
          <p:nvPr/>
        </p:nvSpPr>
        <p:spPr>
          <a:xfrm>
            <a:off x="685800" y="1801368"/>
            <a:ext cx="3108960" cy="914400"/>
          </a:xfrm>
          <a:prstGeom prst="rect">
            <a:avLst/>
          </a:prstGeom>
          <a:noFill/>
        </p:spPr>
        <p:txBody>
          <a:bodyPr wrap="square">
            <a:spAutoFit/>
          </a:bodyPr>
          <a:lstStyle/>
          <a:p>
            <a:pPr algn="l">
              <a:spcAft>
                <a:spcPts val="600"/>
              </a:spcAft>
            </a:pPr>
            <a:r>
              <a:rPr sz="1100" b="0" i="0">
                <a:solidFill>
                  <a:srgbClr val="1F3864"/>
                </a:solidFill>
                <a:latin typeface="Calibri"/>
              </a:rPr>
              <a:t>Automotive &amp; ADAS silicon</a:t>
            </a:r>
          </a:p>
          <a:p>
            <a:pPr algn="l">
              <a:spcAft>
                <a:spcPts val="600"/>
              </a:spcAft>
            </a:pPr>
            <a:r>
              <a:rPr sz="1100" b="0" i="0">
                <a:solidFill>
                  <a:srgbClr val="1F3864"/>
                </a:solidFill>
                <a:latin typeface="Calibri"/>
              </a:rPr>
              <a:t>Analog &amp; mixed-signal</a:t>
            </a:r>
          </a:p>
          <a:p>
            <a:pPr algn="l">
              <a:spcAft>
                <a:spcPts val="600"/>
              </a:spcAft>
            </a:pPr>
            <a:r>
              <a:rPr sz="1100" b="0" i="0">
                <a:solidFill>
                  <a:srgbClr val="1F3864"/>
                </a:solidFill>
                <a:latin typeface="Calibri"/>
              </a:rPr>
              <a:t>HPC / AI accelerator ASICs</a:t>
            </a:r>
          </a:p>
        </p:txBody>
      </p:sp>
      <p:sp>
        <p:nvSpPr>
          <p:cNvPr id="11" name="TextBox 10"/>
          <p:cNvSpPr txBox="1"/>
          <p:nvPr/>
        </p:nvSpPr>
        <p:spPr>
          <a:xfrm>
            <a:off x="4069080" y="1527048"/>
            <a:ext cx="7345375" cy="1234440"/>
          </a:xfrm>
          <a:prstGeom prst="rect">
            <a:avLst/>
          </a:prstGeom>
          <a:noFill/>
        </p:spPr>
        <p:txBody>
          <a:bodyPr wrap="square">
            <a:spAutoFit/>
          </a:bodyPr>
          <a:lstStyle/>
          <a:p>
            <a:pPr algn="l">
              <a:spcAft>
                <a:spcPts val="600"/>
              </a:spcAft>
            </a:pPr>
            <a:r>
              <a:rPr sz="1200" b="0" i="0">
                <a:solidFill>
                  <a:srgbClr val="595959"/>
                </a:solidFill>
                <a:latin typeface="Calibri"/>
              </a:rPr>
              <a:t>Build capacity. Automotive and analog carry the deepest fit with existing ASIC, embedded and VLSI capability and the longest engagement lengths, which is what turns a market into staffable, repeatable work. HPC is entered against named accounts rather than as a general capability build, because its rank depends on how the model is weighted.</a:t>
            </a:r>
          </a:p>
        </p:txBody>
      </p:sp>
      <p:sp>
        <p:nvSpPr>
          <p:cNvPr id="12" name="Rectangle 11"/>
          <p:cNvSpPr/>
          <p:nvPr/>
        </p:nvSpPr>
        <p:spPr>
          <a:xfrm>
            <a:off x="502920" y="2953512"/>
            <a:ext cx="11185855" cy="14173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953512"/>
            <a:ext cx="28000" cy="1417320"/>
          </a:xfrm>
          <a:prstGeom prst="rect">
            <a:avLst/>
          </a:prstGeom>
          <a:solidFill>
            <a:srgbClr val="B07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044952"/>
            <a:ext cx="2286000" cy="274320"/>
          </a:xfrm>
          <a:prstGeom prst="rect">
            <a:avLst/>
          </a:prstGeom>
          <a:noFill/>
        </p:spPr>
        <p:txBody>
          <a:bodyPr wrap="square">
            <a:spAutoFit/>
          </a:bodyPr>
          <a:lstStyle/>
          <a:p>
            <a:pPr algn="l">
              <a:spcAft>
                <a:spcPts val="600"/>
              </a:spcAft>
            </a:pPr>
            <a:r>
              <a:rPr sz="1300" b="1" i="0">
                <a:solidFill>
                  <a:srgbClr val="B07A12"/>
                </a:solidFill>
                <a:latin typeface="Calibri"/>
              </a:rPr>
              <a:t>SELECTIVE</a:t>
            </a:r>
          </a:p>
        </p:txBody>
      </p:sp>
      <p:sp>
        <p:nvSpPr>
          <p:cNvPr id="15" name="TextBox 14"/>
          <p:cNvSpPr txBox="1"/>
          <p:nvPr/>
        </p:nvSpPr>
        <p:spPr>
          <a:xfrm>
            <a:off x="685800" y="3337560"/>
            <a:ext cx="3108960" cy="914400"/>
          </a:xfrm>
          <a:prstGeom prst="rect">
            <a:avLst/>
          </a:prstGeom>
          <a:noFill/>
        </p:spPr>
        <p:txBody>
          <a:bodyPr wrap="square">
            <a:spAutoFit/>
          </a:bodyPr>
          <a:lstStyle/>
          <a:p>
            <a:pPr algn="l">
              <a:spcAft>
                <a:spcPts val="600"/>
              </a:spcAft>
            </a:pPr>
            <a:r>
              <a:rPr sz="1100" b="0" i="0">
                <a:solidFill>
                  <a:srgbClr val="1F3864"/>
                </a:solidFill>
                <a:latin typeface="Calibri"/>
              </a:rPr>
              <a:t>Silicon photonics / optical interconnect</a:t>
            </a:r>
          </a:p>
          <a:p>
            <a:pPr algn="l">
              <a:spcAft>
                <a:spcPts val="600"/>
              </a:spcAft>
            </a:pPr>
            <a:r>
              <a:rPr sz="1100" b="0" i="0">
                <a:solidFill>
                  <a:srgbClr val="1F3864"/>
                </a:solidFill>
                <a:latin typeface="Calibri"/>
              </a:rPr>
              <a:t>Power electronics (SiC / GaN)</a:t>
            </a:r>
          </a:p>
        </p:txBody>
      </p:sp>
      <p:sp>
        <p:nvSpPr>
          <p:cNvPr id="16" name="TextBox 15"/>
          <p:cNvSpPr txBox="1"/>
          <p:nvPr/>
        </p:nvSpPr>
        <p:spPr>
          <a:xfrm>
            <a:off x="4069080" y="3063240"/>
            <a:ext cx="7345375" cy="1234440"/>
          </a:xfrm>
          <a:prstGeom prst="rect">
            <a:avLst/>
          </a:prstGeom>
          <a:noFill/>
        </p:spPr>
        <p:txBody>
          <a:bodyPr wrap="square">
            <a:spAutoFit/>
          </a:bodyPr>
          <a:lstStyle/>
          <a:p>
            <a:pPr algn="l">
              <a:spcAft>
                <a:spcPts val="600"/>
              </a:spcAft>
            </a:pPr>
            <a:r>
              <a:rPr sz="1200" b="0" i="0">
                <a:solidFill>
                  <a:srgbClr val="595959"/>
                </a:solidFill>
                <a:latin typeface="Calibri"/>
              </a:rPr>
              <a:t>Photonics through partnership or acquisition, not hiring: the constraint is engineering talent supply, not customer demand. Power electronics is a hold - keep the current position, take the work that comes, and re-open the question if the crowding thesis proves wrong before 2027.</a:t>
            </a:r>
          </a:p>
        </p:txBody>
      </p:sp>
      <p:sp>
        <p:nvSpPr>
          <p:cNvPr id="17" name="Rectangle 16"/>
          <p:cNvSpPr/>
          <p:nvPr/>
        </p:nvSpPr>
        <p:spPr>
          <a:xfrm>
            <a:off x="502920" y="4489704"/>
            <a:ext cx="11185855" cy="14173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489704"/>
            <a:ext cx="28000" cy="1417320"/>
          </a:xfrm>
          <a:prstGeom prst="rect">
            <a:avLst/>
          </a:prstGeom>
          <a:solidFill>
            <a:srgbClr val="9C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581144"/>
            <a:ext cx="2286000" cy="274320"/>
          </a:xfrm>
          <a:prstGeom prst="rect">
            <a:avLst/>
          </a:prstGeom>
          <a:noFill/>
        </p:spPr>
        <p:txBody>
          <a:bodyPr wrap="square">
            <a:spAutoFit/>
          </a:bodyPr>
          <a:lstStyle/>
          <a:p>
            <a:pPr algn="l">
              <a:spcAft>
                <a:spcPts val="600"/>
              </a:spcAft>
            </a:pPr>
            <a:r>
              <a:rPr sz="1300" b="1" i="0">
                <a:solidFill>
                  <a:srgbClr val="9C3A3A"/>
                </a:solidFill>
                <a:latin typeface="Calibri"/>
              </a:rPr>
              <a:t>DEPRIORITIZE</a:t>
            </a:r>
          </a:p>
        </p:txBody>
      </p:sp>
      <p:sp>
        <p:nvSpPr>
          <p:cNvPr id="20" name="TextBox 19"/>
          <p:cNvSpPr txBox="1"/>
          <p:nvPr/>
        </p:nvSpPr>
        <p:spPr>
          <a:xfrm>
            <a:off x="685800" y="4873752"/>
            <a:ext cx="3108960" cy="914400"/>
          </a:xfrm>
          <a:prstGeom prst="rect">
            <a:avLst/>
          </a:prstGeom>
          <a:noFill/>
        </p:spPr>
        <p:txBody>
          <a:bodyPr wrap="square">
            <a:spAutoFit/>
          </a:bodyPr>
          <a:lstStyle/>
          <a:p>
            <a:pPr algn="l">
              <a:spcAft>
                <a:spcPts val="600"/>
              </a:spcAft>
            </a:pPr>
            <a:r>
              <a:rPr sz="1100" b="0" i="0">
                <a:solidFill>
                  <a:srgbClr val="1F3864"/>
                </a:solidFill>
                <a:latin typeface="Calibri"/>
              </a:rPr>
              <a:t>MEMS &amp; sensors</a:t>
            </a:r>
          </a:p>
          <a:p>
            <a:pPr algn="l">
              <a:spcAft>
                <a:spcPts val="600"/>
              </a:spcAft>
            </a:pPr>
            <a:r>
              <a:rPr sz="1100" b="0" i="0">
                <a:solidFill>
                  <a:srgbClr val="1F3864"/>
                </a:solidFill>
                <a:latin typeface="Calibri"/>
              </a:rPr>
              <a:t>RF &amp; 5G front-end</a:t>
            </a:r>
          </a:p>
          <a:p>
            <a:pPr algn="l">
              <a:spcAft>
                <a:spcPts val="600"/>
              </a:spcAft>
            </a:pPr>
            <a:r>
              <a:rPr sz="1100" b="0" i="0">
                <a:solidFill>
                  <a:srgbClr val="1F3864"/>
                </a:solidFill>
                <a:latin typeface="Calibri"/>
              </a:rPr>
              <a:t>Memory (DRAM / NAND)</a:t>
            </a:r>
          </a:p>
        </p:txBody>
      </p:sp>
      <p:sp>
        <p:nvSpPr>
          <p:cNvPr id="21" name="TextBox 20"/>
          <p:cNvSpPr txBox="1"/>
          <p:nvPr/>
        </p:nvSpPr>
        <p:spPr>
          <a:xfrm>
            <a:off x="4069080" y="4599432"/>
            <a:ext cx="7345375" cy="1234440"/>
          </a:xfrm>
          <a:prstGeom prst="rect">
            <a:avLst/>
          </a:prstGeom>
          <a:noFill/>
        </p:spPr>
        <p:txBody>
          <a:bodyPr wrap="square">
            <a:spAutoFit/>
          </a:bodyPr>
          <a:lstStyle/>
          <a:p>
            <a:pPr algn="l">
              <a:spcAft>
                <a:spcPts val="600"/>
              </a:spcAft>
            </a:pPr>
            <a:r>
              <a:rPr sz="1200" b="0" i="0">
                <a:solidFill>
                  <a:srgbClr val="595959"/>
                </a:solidFill>
                <a:latin typeface="Calibri"/>
              </a:rPr>
              <a:t>Memory is structurally captive and cannot be won at any weighting. RF is mature and concentrated. MEMS is easy to enter and easy to leave; the design cycles are too short to staff a practice against. Serve inbound work, fund nothing.</a:t>
            </a:r>
          </a:p>
        </p:txBody>
      </p:sp>
      <p:sp>
        <p:nvSpPr>
          <p:cNvPr id="22" name="TextBox 21"/>
          <p:cNvSpPr txBox="1"/>
          <p:nvPr/>
        </p:nvSpPr>
        <p:spPr>
          <a:xfrm>
            <a:off x="502920" y="6053328"/>
            <a:ext cx="11185855" cy="365760"/>
          </a:xfrm>
          <a:prstGeom prst="rect">
            <a:avLst/>
          </a:prstGeom>
          <a:noFill/>
        </p:spPr>
        <p:txBody>
          <a:bodyPr wrap="square">
            <a:spAutoFit/>
          </a:bodyPr>
          <a:lstStyle/>
          <a:p>
            <a:pPr algn="l">
              <a:spcAft>
                <a:spcPts val="600"/>
              </a:spcAft>
            </a:pPr>
            <a:r>
              <a:rPr sz="1100" b="0" i="1">
                <a:solidFill>
                  <a:srgbClr val="595959"/>
                </a:solidFill>
                <a:latin typeface="Calibri"/>
              </a:rPr>
              <a:t>Bands are set on the mean opportunity score over 2026-2030: prioritize at 60 and above, selective at 45 and above, deprioritize below that.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777240"/>
          </a:xfrm>
          <a:prstGeom prst="rect">
            <a:avLst/>
          </a:prstGeom>
          <a:noFill/>
        </p:spPr>
        <p:txBody>
          <a:bodyPr wrap="square">
            <a:spAutoFit/>
          </a:bodyPr>
          <a:lstStyle/>
          <a:p>
            <a:pPr algn="l">
              <a:spcAft>
                <a:spcPts val="600"/>
              </a:spcAft>
            </a:pPr>
            <a:r>
              <a:rPr sz="2700" b="1" i="0">
                <a:solidFill>
                  <a:srgbClr val="1F3864"/>
                </a:solidFill>
                <a:latin typeface="Calibri"/>
              </a:rPr>
              <a:t>The judgment inputs carry 45% of the weight, so the next 90 days are about replacing them</a:t>
            </a:r>
          </a:p>
        </p:txBody>
      </p:sp>
      <p:sp>
        <p:nvSpPr>
          <p:cNvPr id="3" name="Rectangle 2"/>
          <p:cNvSpPr/>
          <p:nvPr/>
        </p:nvSpPr>
        <p:spPr>
          <a:xfrm>
            <a:off x="502920" y="1225296"/>
            <a:ext cx="11185855" cy="14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11185855" cy="274320"/>
          </a:xfrm>
          <a:prstGeom prst="rect">
            <a:avLst/>
          </a:prstGeom>
          <a:noFill/>
        </p:spPr>
        <p:txBody>
          <a:bodyPr wrap="square">
            <a:spAutoFit/>
          </a:bodyPr>
          <a:lstStyle/>
          <a:p>
            <a:pPr algn="l">
              <a:spcAft>
                <a:spcPts val="600"/>
              </a:spcAft>
            </a:pPr>
            <a:r>
              <a:rPr sz="1100" b="0" i="1">
                <a:solidFill>
                  <a:srgbClr val="595959"/>
                </a:solidFill>
                <a:latin typeface="Calibri"/>
              </a:rPr>
              <a:t>Risks and next 90 days</a:t>
            </a:r>
          </a:p>
        </p:txBody>
      </p:sp>
      <p:sp>
        <p:nvSpPr>
          <p:cNvPr id="5" name="TextBox 4"/>
          <p:cNvSpPr txBox="1"/>
          <p:nvPr/>
        </p:nvSpPr>
        <p:spPr>
          <a:xfrm>
            <a:off x="502920" y="6428232"/>
            <a:ext cx="9601200" cy="274320"/>
          </a:xfrm>
          <a:prstGeom prst="rect">
            <a:avLst/>
          </a:prstGeom>
          <a:noFill/>
        </p:spPr>
        <p:txBody>
          <a:bodyPr wrap="square">
            <a:spAutoFit/>
          </a:bodyPr>
          <a:lstStyle/>
          <a:p>
            <a:pPr algn="l">
              <a:spcAft>
                <a:spcPts val="600"/>
              </a:spcAft>
            </a:pPr>
            <a:r>
              <a:rPr sz="900" b="0" i="0">
                <a:solidFill>
                  <a:srgbClr val="595959"/>
                </a:solidFill>
                <a:latin typeface="Calibri"/>
              </a:rPr>
              <a:t>Semiconductor design-services opportunity  |  Illustrative dataset, not market research</a:t>
            </a:r>
          </a:p>
        </p:txBody>
      </p:sp>
      <p:sp>
        <p:nvSpPr>
          <p:cNvPr id="6" name="TextBox 5"/>
          <p:cNvSpPr txBox="1"/>
          <p:nvPr/>
        </p:nvSpPr>
        <p:spPr>
          <a:xfrm>
            <a:off x="11094415" y="6428232"/>
            <a:ext cx="594360" cy="274320"/>
          </a:xfrm>
          <a:prstGeom prst="rect">
            <a:avLst/>
          </a:prstGeom>
          <a:noFill/>
        </p:spPr>
        <p:txBody>
          <a:bodyPr wrap="square">
            <a:spAutoFit/>
          </a:bodyPr>
          <a:lstStyle/>
          <a:p>
            <a:pPr algn="r">
              <a:spcAft>
                <a:spcPts val="600"/>
              </a:spcAft>
            </a:pPr>
            <a:r>
              <a:rPr sz="900" b="0" i="0">
                <a:solidFill>
                  <a:srgbClr val="595959"/>
                </a:solidFill>
                <a:latin typeface="Calibri"/>
              </a:rPr>
              <a:t>7</a:t>
            </a:r>
          </a:p>
        </p:txBody>
      </p:sp>
      <p:sp>
        <p:nvSpPr>
          <p:cNvPr id="7" name="TextBox 6"/>
          <p:cNvSpPr txBox="1"/>
          <p:nvPr/>
        </p:nvSpPr>
        <p:spPr>
          <a:xfrm>
            <a:off x="502920" y="1417320"/>
            <a:ext cx="5577840" cy="292608"/>
          </a:xfrm>
          <a:prstGeom prst="rect">
            <a:avLst/>
          </a:prstGeom>
          <a:noFill/>
        </p:spPr>
        <p:txBody>
          <a:bodyPr wrap="square">
            <a:spAutoFit/>
          </a:bodyPr>
          <a:lstStyle/>
          <a:p>
            <a:pPr algn="l">
              <a:spcAft>
                <a:spcPts val="600"/>
              </a:spcAft>
            </a:pPr>
            <a:r>
              <a:rPr sz="1400" b="1" i="0">
                <a:solidFill>
                  <a:srgbClr val="1F3864"/>
                </a:solidFill>
                <a:latin typeface="Calibri"/>
              </a:rPr>
              <a:t>What could make this answer wrong</a:t>
            </a:r>
          </a:p>
        </p:txBody>
      </p:sp>
      <p:sp>
        <p:nvSpPr>
          <p:cNvPr id="8" name="TextBox 7"/>
          <p:cNvSpPr txBox="1"/>
          <p:nvPr/>
        </p:nvSpPr>
        <p:spPr>
          <a:xfrm>
            <a:off x="502920" y="1783080"/>
            <a:ext cx="5577840" cy="4206240"/>
          </a:xfrm>
          <a:prstGeom prst="rect">
            <a:avLst/>
          </a:prstGeom>
          <a:noFill/>
        </p:spPr>
        <p:txBody>
          <a:bodyPr wrap="square">
            <a:spAutoFit/>
          </a:bodyPr>
          <a:lstStyle/>
          <a:p>
            <a:pPr>
              <a:spcAft>
                <a:spcPts val="1000"/>
              </a:spcAft>
            </a:pPr>
            <a:r>
              <a:rPr sz="1200" b="1">
                <a:solidFill>
                  <a:srgbClr val="1F3864"/>
                </a:solidFill>
                <a:latin typeface="Calibri"/>
              </a:rPr>
              <a:t>Judgment inputs.  </a:t>
            </a:r>
            <a:r>
              <a:rPr sz="1200">
                <a:solidFill>
                  <a:srgbClr val="595959"/>
                </a:solidFill>
                <a:latin typeface="Calibri"/>
              </a:rPr>
              <a:t>Strategic fit, customer demand, competitive intensity and entry feasibility are analyst scores, not measurements, and together they carry 45% of the weight.</a:t>
            </a:r>
          </a:p>
          <a:p>
            <a:pPr>
              <a:spcAft>
                <a:spcPts val="1000"/>
              </a:spcAft>
            </a:pPr>
            <a:r>
              <a:rPr sz="1200" b="1">
                <a:solidFill>
                  <a:srgbClr val="1F3864"/>
                </a:solidFill>
                <a:latin typeface="Calibri"/>
              </a:rPr>
              <a:t>Addressability.  </a:t>
            </a:r>
            <a:r>
              <a:rPr sz="1200">
                <a:solidFill>
                  <a:srgbClr val="595959"/>
                </a:solidFill>
                <a:latin typeface="Calibri"/>
              </a:rPr>
              <a:t>The addressable-share assumption is the single most load-bearing number in the model. It is what moves memory from second to fifth. It is also unverified.</a:t>
            </a:r>
          </a:p>
          <a:p>
            <a:pPr>
              <a:spcAft>
                <a:spcPts val="1000"/>
              </a:spcAft>
            </a:pPr>
            <a:r>
              <a:rPr sz="1200" b="1">
                <a:solidFill>
                  <a:srgbClr val="1F3864"/>
                </a:solidFill>
                <a:latin typeface="Calibri"/>
              </a:rPr>
              <a:t>Static competition.  </a:t>
            </a:r>
            <a:r>
              <a:rPr sz="1200">
                <a:solidFill>
                  <a:srgbClr val="595959"/>
                </a:solidFill>
                <a:latin typeface="Calibri"/>
              </a:rPr>
              <a:t>Competitive intensity is modelled as a smooth path. One large entrant, exit or acquisition would move a segment faster than anything shown here.</a:t>
            </a:r>
          </a:p>
          <a:p>
            <a:pPr>
              <a:spcAft>
                <a:spcPts val="1000"/>
              </a:spcAft>
            </a:pPr>
            <a:r>
              <a:rPr sz="1200" b="1">
                <a:solidFill>
                  <a:srgbClr val="1F3864"/>
                </a:solidFill>
                <a:latin typeface="Calibri"/>
              </a:rPr>
              <a:t>No commercial data.  </a:t>
            </a:r>
            <a:r>
              <a:rPr sz="1200">
                <a:solidFill>
                  <a:srgbClr val="595959"/>
                </a:solidFill>
                <a:latin typeface="Calibri"/>
              </a:rPr>
              <a:t>Nothing in the model uses pipeline, win rates, rate cards or utilisation, so this says where to look, not what an engagement is worth.</a:t>
            </a:r>
          </a:p>
        </p:txBody>
      </p:sp>
      <p:sp>
        <p:nvSpPr>
          <p:cNvPr id="9" name="TextBox 8"/>
          <p:cNvSpPr txBox="1"/>
          <p:nvPr/>
        </p:nvSpPr>
        <p:spPr>
          <a:xfrm>
            <a:off x="6537960" y="1417320"/>
            <a:ext cx="5120640" cy="292608"/>
          </a:xfrm>
          <a:prstGeom prst="rect">
            <a:avLst/>
          </a:prstGeom>
          <a:noFill/>
        </p:spPr>
        <p:txBody>
          <a:bodyPr wrap="square">
            <a:spAutoFit/>
          </a:bodyPr>
          <a:lstStyle/>
          <a:p>
            <a:pPr algn="l">
              <a:spcAft>
                <a:spcPts val="600"/>
              </a:spcAft>
            </a:pPr>
            <a:r>
              <a:rPr sz="1400" b="1" i="0">
                <a:solidFill>
                  <a:srgbClr val="1F3864"/>
                </a:solidFill>
                <a:latin typeface="Calibri"/>
              </a:rPr>
              <a:t>Next 90 days</a:t>
            </a:r>
          </a:p>
        </p:txBody>
      </p:sp>
      <p:sp>
        <p:nvSpPr>
          <p:cNvPr id="10" name="TextBox 9"/>
          <p:cNvSpPr txBox="1"/>
          <p:nvPr/>
        </p:nvSpPr>
        <p:spPr>
          <a:xfrm>
            <a:off x="6537960" y="1783080"/>
            <a:ext cx="5120640" cy="4206240"/>
          </a:xfrm>
          <a:prstGeom prst="rect">
            <a:avLst/>
          </a:prstGeom>
          <a:noFill/>
        </p:spPr>
        <p:txBody>
          <a:bodyPr wrap="square">
            <a:spAutoFit/>
          </a:bodyPr>
          <a:lstStyle/>
          <a:p>
            <a:pPr>
              <a:spcAft>
                <a:spcPts val="1000"/>
              </a:spcAft>
            </a:pPr>
            <a:r>
              <a:rPr sz="1200" b="1">
                <a:solidFill>
                  <a:srgbClr val="1F3864"/>
                </a:solidFill>
                <a:latin typeface="Calibri"/>
              </a:rPr>
              <a:t>Weeks 1-4.  </a:t>
            </a:r>
            <a:r>
              <a:rPr sz="1200">
                <a:solidFill>
                  <a:srgbClr val="595959"/>
                </a:solidFill>
                <a:latin typeface="Calibri"/>
              </a:rPr>
              <a:t>Replace the addressable-share assumption for the three prioritize segments with a bottom-up estimate built from won and lost bids over the last eight quarters.</a:t>
            </a:r>
          </a:p>
          <a:p>
            <a:pPr>
              <a:spcAft>
                <a:spcPts val="1000"/>
              </a:spcAft>
            </a:pPr>
            <a:r>
              <a:rPr sz="1200" b="1">
                <a:solidFill>
                  <a:srgbClr val="1F3864"/>
                </a:solidFill>
                <a:latin typeface="Calibri"/>
              </a:rPr>
              <a:t>Weeks 3-8.  </a:t>
            </a:r>
            <a:r>
              <a:rPr sz="1200">
                <a:solidFill>
                  <a:srgbClr val="595959"/>
                </a:solidFill>
                <a:latin typeface="Calibri"/>
              </a:rPr>
              <a:t>Test the power electronics crowding thesis directly: track announced SiC and GaN capacity conversions and count new design-services entrants quarterly.</a:t>
            </a:r>
          </a:p>
          <a:p>
            <a:pPr>
              <a:spcAft>
                <a:spcPts val="1000"/>
              </a:spcAft>
            </a:pPr>
            <a:r>
              <a:rPr sz="1200" b="1">
                <a:solidFill>
                  <a:srgbClr val="1F3864"/>
                </a:solidFill>
                <a:latin typeface="Calibri"/>
              </a:rPr>
              <a:t>Weeks 5-10.  </a:t>
            </a:r>
            <a:r>
              <a:rPr sz="1200">
                <a:solidFill>
                  <a:srgbClr val="595959"/>
                </a:solidFill>
                <a:latin typeface="Calibri"/>
              </a:rPr>
              <a:t>Name the HPC accounts. The segment is in the prioritize group on pool size; if the accounts are not nameable, it moves to selective.</a:t>
            </a:r>
          </a:p>
          <a:p>
            <a:pPr>
              <a:spcAft>
                <a:spcPts val="1000"/>
              </a:spcAft>
            </a:pPr>
            <a:r>
              <a:rPr sz="1200" b="1">
                <a:solidFill>
                  <a:srgbClr val="1F3864"/>
                </a:solidFill>
                <a:latin typeface="Calibri"/>
              </a:rPr>
              <a:t>Weeks 8-12.  </a:t>
            </a:r>
            <a:r>
              <a:rPr sz="1200">
                <a:solidFill>
                  <a:srgbClr val="595959"/>
                </a:solidFill>
                <a:latin typeface="Calibri"/>
              </a:rPr>
              <a:t>Scope photonics partnership options against the talent constraint, and take the re-weighted framework back to leadership with real inputs in place of judgment.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